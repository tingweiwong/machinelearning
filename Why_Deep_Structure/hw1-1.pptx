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0" algn="l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0" algn="l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0" algn="l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0" algn="l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0" algn="l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0" algn="l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0" algn="l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0" algn="l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1">
              <a:hueOff val="178262"/>
              <a:satOff val="-8651"/>
              <a:lumOff val="-7254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239254"/>
              <a:lumOff val="-1399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889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47882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 b="def" i="def"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222222"/>
              </a:solidFill>
              <a:prstDash val="solid"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22222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4" name="Shape 16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&amp; Subtitle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"/>
          <p:cNvSpPr/>
          <p:nvPr/>
        </p:nvSpPr>
        <p:spPr>
          <a:xfrm flipV="1">
            <a:off x="406400" y="6140894"/>
            <a:ext cx="12192000" cy="263"/>
          </a:xfrm>
          <a:prstGeom prst="line">
            <a:avLst/>
          </a:prstGeom>
          <a:ln w="381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3" name="Title Text"/>
          <p:cNvSpPr txBox="1"/>
          <p:nvPr>
            <p:ph type="title"/>
          </p:nvPr>
        </p:nvSpPr>
        <p:spPr>
          <a:xfrm>
            <a:off x="406400" y="6426200"/>
            <a:ext cx="12192000" cy="27051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7000"/>
            </a:lvl1pPr>
          </a:lstStyle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406400" y="4267200"/>
            <a:ext cx="12192000" cy="18034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xfrm>
            <a:off x="12194440" y="431800"/>
            <a:ext cx="406898" cy="4572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Horizontal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Image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3" name="Line"/>
          <p:cNvSpPr/>
          <p:nvPr>
            <p:ph type="body" sz="quarter" idx="14"/>
          </p:nvPr>
        </p:nvSpPr>
        <p:spPr>
          <a:xfrm flipV="1">
            <a:off x="406400" y="6140894"/>
            <a:ext cx="12192000" cy="263"/>
          </a:xfrm>
          <a:prstGeom prst="line">
            <a:avLst/>
          </a:prstGeom>
          <a:ln w="38100">
            <a:solidFill>
              <a:srgbClr val="A6AAA9"/>
            </a:solidFill>
          </a:ln>
        </p:spPr>
        <p:txBody>
          <a:bodyPr anchor="ctr">
            <a:noAutofit/>
          </a:bodyPr>
          <a:lstStyle/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4" name="Title Text"/>
          <p:cNvSpPr txBox="1"/>
          <p:nvPr>
            <p:ph type="title"/>
          </p:nvPr>
        </p:nvSpPr>
        <p:spPr>
          <a:xfrm>
            <a:off x="406400" y="6426200"/>
            <a:ext cx="12192000" cy="27051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7000"/>
            </a:lvl1pPr>
          </a:lstStyle>
          <a:p>
            <a:pPr/>
            <a:r>
              <a:t>Title Text</a:t>
            </a:r>
          </a:p>
        </p:txBody>
      </p:sp>
      <p:sp>
        <p:nvSpPr>
          <p:cNvPr id="25" name="Body Level One…"/>
          <p:cNvSpPr txBox="1"/>
          <p:nvPr>
            <p:ph type="body" sz="quarter" idx="1"/>
          </p:nvPr>
        </p:nvSpPr>
        <p:spPr>
          <a:xfrm>
            <a:off x="406400" y="4267200"/>
            <a:ext cx="12192000" cy="18034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xfrm>
            <a:off x="12194440" y="431800"/>
            <a:ext cx="406898" cy="4572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e"/>
          <p:cNvSpPr/>
          <p:nvPr/>
        </p:nvSpPr>
        <p:spPr>
          <a:xfrm flipV="1">
            <a:off x="406400" y="6140894"/>
            <a:ext cx="12192000" cy="263"/>
          </a:xfrm>
          <a:prstGeom prst="line">
            <a:avLst/>
          </a:prstGeom>
          <a:ln w="381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4" name="Title Text"/>
          <p:cNvSpPr txBox="1"/>
          <p:nvPr>
            <p:ph type="title"/>
          </p:nvPr>
        </p:nvSpPr>
        <p:spPr>
          <a:xfrm>
            <a:off x="406400" y="6426200"/>
            <a:ext cx="12192000" cy="27051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7000"/>
            </a:lvl1pPr>
          </a:lstStyle>
          <a:p>
            <a:pPr/>
            <a:r>
              <a:t>Title Text</a:t>
            </a:r>
          </a:p>
        </p:txBody>
      </p:sp>
      <p:sp>
        <p:nvSpPr>
          <p:cNvPr id="35" name="Body Level One…"/>
          <p:cNvSpPr txBox="1"/>
          <p:nvPr>
            <p:ph type="body" sz="quarter" idx="1"/>
          </p:nvPr>
        </p:nvSpPr>
        <p:spPr>
          <a:xfrm>
            <a:off x="406400" y="4267200"/>
            <a:ext cx="12192000" cy="18034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xfrm>
            <a:off x="12161859" y="419100"/>
            <a:ext cx="406898" cy="4572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- Center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Text"/>
          <p:cNvSpPr txBox="1"/>
          <p:nvPr>
            <p:ph type="title"/>
          </p:nvPr>
        </p:nvSpPr>
        <p:spPr>
          <a:xfrm>
            <a:off x="406400" y="4038600"/>
            <a:ext cx="12192000" cy="45212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7000"/>
            </a:lvl1pPr>
          </a:lstStyle>
          <a:p>
            <a:pPr/>
            <a:r>
              <a:t>Title Text</a:t>
            </a:r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xfrm>
            <a:off x="12194440" y="431800"/>
            <a:ext cx="406898" cy="4572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Vertical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Line"/>
          <p:cNvSpPr/>
          <p:nvPr/>
        </p:nvSpPr>
        <p:spPr>
          <a:xfrm flipV="1">
            <a:off x="5892800" y="6141012"/>
            <a:ext cx="6705600" cy="145"/>
          </a:xfrm>
          <a:prstGeom prst="line">
            <a:avLst/>
          </a:prstGeom>
          <a:ln w="381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52" name="Image"/>
          <p:cNvSpPr/>
          <p:nvPr>
            <p:ph type="pic" idx="13"/>
          </p:nvPr>
        </p:nvSpPr>
        <p:spPr>
          <a:xfrm>
            <a:off x="0" y="0"/>
            <a:ext cx="5486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3" name="Title Text"/>
          <p:cNvSpPr txBox="1"/>
          <p:nvPr>
            <p:ph type="title"/>
          </p:nvPr>
        </p:nvSpPr>
        <p:spPr>
          <a:xfrm>
            <a:off x="5892800" y="6426200"/>
            <a:ext cx="6705600" cy="27051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7000"/>
            </a:lvl1pPr>
          </a:lstStyle>
          <a:p>
            <a:pPr/>
            <a:r>
              <a:t>Title Text</a:t>
            </a:r>
          </a:p>
        </p:txBody>
      </p:sp>
      <p:sp>
        <p:nvSpPr>
          <p:cNvPr id="54" name="Body Level One…"/>
          <p:cNvSpPr txBox="1"/>
          <p:nvPr>
            <p:ph type="body" sz="quarter" idx="1"/>
          </p:nvPr>
        </p:nvSpPr>
        <p:spPr>
          <a:xfrm>
            <a:off x="5892800" y="4267200"/>
            <a:ext cx="6705600" cy="18034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0">
              <a:lnSpc>
                <a:spcPct val="80000"/>
              </a:lnSpc>
              <a:spcBef>
                <a:spcPts val="2300"/>
              </a:spcBef>
              <a:buClrTx/>
              <a:buSzTx/>
              <a:buFontTx/>
              <a:buNone/>
              <a:defRPr cap="all" sz="5400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lide Number"/>
          <p:cNvSpPr txBox="1"/>
          <p:nvPr>
            <p:ph type="sldNum" sz="quarter" idx="2"/>
          </p:nvPr>
        </p:nvSpPr>
        <p:spPr>
          <a:xfrm>
            <a:off x="12194440" y="431800"/>
            <a:ext cx="406898" cy="4572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"/>
          <p:cNvSpPr txBox="1"/>
          <p:nvPr>
            <p:ph type="body" sz="quarter" idx="13"/>
          </p:nvPr>
        </p:nvSpPr>
        <p:spPr>
          <a:xfrm>
            <a:off x="406400" y="457200"/>
            <a:ext cx="11176000" cy="4572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572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20" sz="24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6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"/>
          <p:cNvSpPr txBox="1"/>
          <p:nvPr>
            <p:ph type="body" sz="quarter" idx="13"/>
          </p:nvPr>
        </p:nvSpPr>
        <p:spPr>
          <a:xfrm>
            <a:off x="406400" y="457200"/>
            <a:ext cx="11176000" cy="4572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572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20" sz="24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7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"/>
          <p:cNvSpPr txBox="1"/>
          <p:nvPr>
            <p:ph type="body" sz="quarter" idx="13"/>
          </p:nvPr>
        </p:nvSpPr>
        <p:spPr>
          <a:xfrm>
            <a:off x="406400" y="457200"/>
            <a:ext cx="11176000" cy="4572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572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20" sz="24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8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"/>
          <p:cNvSpPr txBox="1"/>
          <p:nvPr>
            <p:ph type="body" sz="quarter" idx="13"/>
          </p:nvPr>
        </p:nvSpPr>
        <p:spPr>
          <a:xfrm>
            <a:off x="406400" y="457200"/>
            <a:ext cx="11176000" cy="4572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572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20" sz="24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92" name="Image"/>
          <p:cNvSpPr/>
          <p:nvPr>
            <p:ph type="pic" sz="half" idx="14"/>
          </p:nvPr>
        </p:nvSpPr>
        <p:spPr>
          <a:xfrm>
            <a:off x="7112000" y="1536700"/>
            <a:ext cx="5486400" cy="7797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3" name="Title Text"/>
          <p:cNvSpPr txBox="1"/>
          <p:nvPr>
            <p:ph type="title"/>
          </p:nvPr>
        </p:nvSpPr>
        <p:spPr>
          <a:xfrm>
            <a:off x="406400" y="1536700"/>
            <a:ext cx="6299200" cy="7239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4" name="Body Level One…"/>
          <p:cNvSpPr txBox="1"/>
          <p:nvPr>
            <p:ph type="body" sz="half" idx="1"/>
          </p:nvPr>
        </p:nvSpPr>
        <p:spPr>
          <a:xfrm>
            <a:off x="406400" y="2743200"/>
            <a:ext cx="6299200" cy="61087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2800"/>
            </a:lvl1pPr>
            <a:lvl2pPr>
              <a:buClr>
                <a:schemeClr val="accent1"/>
              </a:buClr>
              <a:buChar char="▸"/>
              <a:defRPr sz="2800"/>
            </a:lvl2pPr>
            <a:lvl3pPr>
              <a:buClr>
                <a:schemeClr val="accent1"/>
              </a:buClr>
              <a:buChar char="▸"/>
              <a:defRPr sz="2800"/>
            </a:lvl3pPr>
            <a:lvl4pPr>
              <a:buClr>
                <a:schemeClr val="accent1"/>
              </a:buClr>
              <a:buChar char="▸"/>
              <a:defRPr sz="2800"/>
            </a:lvl4pPr>
            <a:lvl5pPr>
              <a:buClr>
                <a:schemeClr val="accent1"/>
              </a:buClr>
              <a:buChar char="▸"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"/>
          <p:cNvSpPr txBox="1"/>
          <p:nvPr>
            <p:ph type="body" sz="quarter" idx="13"/>
          </p:nvPr>
        </p:nvSpPr>
        <p:spPr>
          <a:xfrm>
            <a:off x="406400" y="457200"/>
            <a:ext cx="11176000" cy="4572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572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20" sz="24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10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3 Up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Image"/>
          <p:cNvSpPr/>
          <p:nvPr>
            <p:ph type="pic" sz="half" idx="13"/>
          </p:nvPr>
        </p:nvSpPr>
        <p:spPr>
          <a:xfrm>
            <a:off x="6503154" y="0"/>
            <a:ext cx="6502401" cy="4864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2" name="Image"/>
          <p:cNvSpPr/>
          <p:nvPr>
            <p:ph type="pic" sz="half" idx="14"/>
          </p:nvPr>
        </p:nvSpPr>
        <p:spPr>
          <a:xfrm>
            <a:off x="6502400" y="4902200"/>
            <a:ext cx="6502400" cy="4864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3" name="Image"/>
          <p:cNvSpPr/>
          <p:nvPr>
            <p:ph type="pic" idx="15"/>
          </p:nvPr>
        </p:nvSpPr>
        <p:spPr>
          <a:xfrm>
            <a:off x="0" y="0"/>
            <a:ext cx="6468534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allout"/>
          <p:cNvSpPr/>
          <p:nvPr/>
        </p:nvSpPr>
        <p:spPr>
          <a:xfrm>
            <a:off x="469900" y="2362200"/>
            <a:ext cx="12065000" cy="52292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4" y="0"/>
                </a:moveTo>
                <a:cubicBezTo>
                  <a:pt x="100" y="0"/>
                  <a:pt x="0" y="232"/>
                  <a:pt x="0" y="516"/>
                </a:cubicBezTo>
                <a:lnTo>
                  <a:pt x="0" y="18789"/>
                </a:lnTo>
                <a:cubicBezTo>
                  <a:pt x="0" y="19073"/>
                  <a:pt x="100" y="19305"/>
                  <a:pt x="224" y="19305"/>
                </a:cubicBezTo>
                <a:lnTo>
                  <a:pt x="17228" y="19305"/>
                </a:lnTo>
                <a:lnTo>
                  <a:pt x="17850" y="21600"/>
                </a:lnTo>
                <a:lnTo>
                  <a:pt x="18471" y="19305"/>
                </a:lnTo>
                <a:lnTo>
                  <a:pt x="21376" y="19305"/>
                </a:lnTo>
                <a:cubicBezTo>
                  <a:pt x="21500" y="19305"/>
                  <a:pt x="21600" y="19073"/>
                  <a:pt x="21600" y="18789"/>
                </a:cubicBezTo>
                <a:lnTo>
                  <a:pt x="21600" y="516"/>
                </a:lnTo>
                <a:cubicBezTo>
                  <a:pt x="21600" y="232"/>
                  <a:pt x="21500" y="0"/>
                  <a:pt x="21376" y="0"/>
                </a:cubicBezTo>
                <a:lnTo>
                  <a:pt x="224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cap="all" sz="28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pPr>
          </a:p>
        </p:txBody>
      </p:sp>
      <p:sp>
        <p:nvSpPr>
          <p:cNvPr id="122" name="Type a quote here."/>
          <p:cNvSpPr txBox="1"/>
          <p:nvPr>
            <p:ph type="body" sz="quarter" idx="13"/>
          </p:nvPr>
        </p:nvSpPr>
        <p:spPr>
          <a:xfrm>
            <a:off x="889000" y="2908300"/>
            <a:ext cx="11226800" cy="129794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z="94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pPr/>
            <a:r>
              <a:t>Type a quote here.</a:t>
            </a:r>
          </a:p>
        </p:txBody>
      </p:sp>
      <p:sp>
        <p:nvSpPr>
          <p:cNvPr id="123" name="Johnny Appleseed"/>
          <p:cNvSpPr txBox="1"/>
          <p:nvPr>
            <p:ph type="body" sz="quarter" idx="14"/>
          </p:nvPr>
        </p:nvSpPr>
        <p:spPr>
          <a:xfrm>
            <a:off x="406400" y="7789333"/>
            <a:ext cx="12192000" cy="86360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pPr/>
            <a:r>
              <a:t>Johnny Appleseed</a:t>
            </a:r>
          </a:p>
        </p:txBody>
      </p:sp>
      <p:sp>
        <p:nvSpPr>
          <p:cNvPr id="124" name="Text"/>
          <p:cNvSpPr txBox="1"/>
          <p:nvPr>
            <p:ph type="body" sz="quarter" idx="15"/>
          </p:nvPr>
        </p:nvSpPr>
        <p:spPr>
          <a:xfrm>
            <a:off x="406400" y="457200"/>
            <a:ext cx="11176000" cy="4572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572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20" sz="24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1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 Al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ype a quote here."/>
          <p:cNvSpPr txBox="1"/>
          <p:nvPr>
            <p:ph type="body" sz="quarter" idx="13"/>
          </p:nvPr>
        </p:nvSpPr>
        <p:spPr>
          <a:xfrm>
            <a:off x="5892800" y="2641600"/>
            <a:ext cx="6705600" cy="2501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z="94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pPr/>
            <a:r>
              <a:t>Type a quote here.</a:t>
            </a:r>
          </a:p>
        </p:txBody>
      </p:sp>
      <p:sp>
        <p:nvSpPr>
          <p:cNvPr id="133" name="Image"/>
          <p:cNvSpPr/>
          <p:nvPr>
            <p:ph type="pic" idx="14"/>
          </p:nvPr>
        </p:nvSpPr>
        <p:spPr>
          <a:xfrm>
            <a:off x="0" y="0"/>
            <a:ext cx="5486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4" name="Johnny Appleseed"/>
          <p:cNvSpPr txBox="1"/>
          <p:nvPr>
            <p:ph type="body" sz="quarter" idx="15"/>
          </p:nvPr>
        </p:nvSpPr>
        <p:spPr>
          <a:xfrm>
            <a:off x="5892800" y="7789333"/>
            <a:ext cx="6705600" cy="86360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defTabSz="457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rgbClr val="232323"/>
                </a:solidFill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pPr/>
            <a:r>
              <a:t>Johnny Appleseed</a:t>
            </a:r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Image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 flipV="1">
            <a:off x="406400" y="993160"/>
            <a:ext cx="12192000" cy="263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406400" y="1536700"/>
            <a:ext cx="121920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406400" y="2743200"/>
            <a:ext cx="12192000" cy="610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2186622" y="431800"/>
            <a:ext cx="406897" cy="457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24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xmlns:p14="http://schemas.microsoft.com/office/powerpoint/2010/main" spd="med" advClick="1"/>
  <p:txStyles>
    <p:titleStyle>
      <a:lvl1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6000" u="none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1pPr>
      <a:lvl2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6000" u="none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2pPr>
      <a:lvl3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6000" u="none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3pPr>
      <a:lvl4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6000" u="none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4pPr>
      <a:lvl5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6000" u="none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5pPr>
      <a:lvl6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6000" u="none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6pPr>
      <a:lvl7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6000" u="none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7pPr>
      <a:lvl8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6000" u="none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8pPr>
      <a:lvl9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6000" u="none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9pPr>
    </p:titleStyle>
    <p:bodyStyle>
      <a:lvl1pPr marL="444500" marR="0" indent="-444500" algn="l" defTabSz="58420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b="0" baseline="0" cap="none" i="0" spc="0" strike="noStrike" sz="3400" u="none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889000" marR="0" indent="-444500" algn="l" defTabSz="58420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b="0" baseline="0" cap="none" i="0" spc="0" strike="noStrike" sz="3400" u="none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333500" marR="0" indent="-444500" algn="l" defTabSz="58420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b="0" baseline="0" cap="none" i="0" spc="0" strike="noStrike" sz="3400" u="none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1778000" marR="0" indent="-444500" algn="l" defTabSz="58420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b="0" baseline="0" cap="none" i="0" spc="0" strike="noStrike" sz="3400" u="none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2222500" marR="0" indent="-444500" algn="l" defTabSz="58420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b="0" baseline="0" cap="none" i="0" spc="0" strike="noStrike" sz="3400" u="none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2667000" marR="0" indent="-444500" algn="l" defTabSz="58420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b="0" baseline="0" cap="none" i="0" spc="0" strike="noStrike" sz="3400" u="none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3111500" marR="0" indent="-444500" algn="l" defTabSz="58420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b="0" baseline="0" cap="none" i="0" spc="0" strike="noStrike" sz="3400" u="none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3556000" marR="0" indent="-444500" algn="l" defTabSz="58420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b="0" baseline="0" cap="none" i="0" spc="0" strike="noStrike" sz="3400" u="none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4000500" marR="0" indent="-444500" algn="l" defTabSz="58420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b="0" baseline="0" cap="none" i="0" spc="0" strike="noStrike" sz="3400" u="none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1pPr>
      <a:lvl2pPr marL="0" marR="0" indent="2286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2pPr>
      <a:lvl3pPr marL="0" marR="0" indent="4572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3pPr>
      <a:lvl4pPr marL="0" marR="0" indent="6858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4pPr>
      <a:lvl5pPr marL="0" marR="0" indent="9144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5pPr>
      <a:lvl6pPr marL="0" marR="0" indent="11430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6pPr>
      <a:lvl7pPr marL="0" marR="0" indent="13716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7pPr>
      <a:lvl8pPr marL="0" marR="0" indent="16002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8pPr>
      <a:lvl9pPr marL="0" marR="0" indent="1828800" algn="r" defTabSz="5842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deep vs shallow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566674">
              <a:defRPr sz="16490"/>
            </a:lvl1pPr>
          </a:lstStyle>
          <a:p>
            <a:pPr/>
            <a:r>
              <a:t>deep vs shallow</a:t>
            </a:r>
          </a:p>
        </p:txBody>
      </p:sp>
      <p:sp>
        <p:nvSpPr>
          <p:cNvPr id="167" name="homework 1-1  Secret mlds 2018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pPr/>
            <a:r>
              <a:t>homework 1-1  Secret mlds 2018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function approxim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7256">
              <a:defRPr sz="11560"/>
            </a:lvl1pPr>
          </a:lstStyle>
          <a:p>
            <a:pPr/>
            <a:r>
              <a:t>function approximation</a:t>
            </a:r>
          </a:p>
        </p:txBody>
      </p:sp>
      <p:sp>
        <p:nvSpPr>
          <p:cNvPr id="170" name="y = sin ( 5πx ) / (5πx)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	y = sin ( 5πx ) / (5πx)</a:t>
            </a:r>
          </a:p>
        </p:txBody>
      </p:sp>
      <p:sp>
        <p:nvSpPr>
          <p:cNvPr id="171" name="Equation"/>
          <p:cNvSpPr txBox="1"/>
          <p:nvPr/>
        </p:nvSpPr>
        <p:spPr>
          <a:xfrm>
            <a:off x="7950413" y="5344358"/>
            <a:ext cx="3918295" cy="51149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spcBef>
                <a:spcPts val="0"/>
              </a:spcBef>
              <a:defRPr sz="1800">
                <a:solidFill>
                  <a:srgbClr val="000000"/>
                </a:solidFill>
              </a:defRPr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5</m:t>
                  </m:r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π</m:t>
                  </m:r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5</m:t>
                  </m:r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π</m:t>
                  </m:r>
                  <m:r>
                    <a:rPr xmlns:a="http://schemas.openxmlformats.org/drawingml/2006/main" sz="4500" i="1">
                      <a:solidFill>
                        <a:srgbClr val="838686"/>
                      </a:solidFill>
                      <a:latin typeface="Cambria Math" panose="02040503050406030204" pitchFamily="18" charset="0"/>
                    </a:rPr>
                    <m:t>x</m:t>
                  </m:r>
                </m:oMath>
              </m:oMathPara>
            </a14:m>
            <a:endParaRPr sz="4500">
              <a:solidFill>
                <a:srgbClr val="838787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174" name="feed forward networ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feed forward network</a:t>
            </a:r>
          </a:p>
        </p:txBody>
      </p:sp>
      <p:pic>
        <p:nvPicPr>
          <p:cNvPr id="175" name="recurrent-network.png" descr="recurrent-network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96440" y="2791177"/>
            <a:ext cx="9551298" cy="62116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178" name="recurrent neural networ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recurrent neural network</a:t>
            </a:r>
          </a:p>
        </p:txBody>
      </p:sp>
      <p:pic>
        <p:nvPicPr>
          <p:cNvPr id="179" name="feed-forward-error.png" descr="feed-forward-erro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6144627"/>
            <a:ext cx="13004801" cy="36571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RNN.png" descr="RN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6455" y="2673303"/>
            <a:ext cx="11651890" cy="30586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183" name="poor approximation-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poor approximation-1</a:t>
            </a:r>
          </a:p>
        </p:txBody>
      </p:sp>
      <p:pic>
        <p:nvPicPr>
          <p:cNvPr id="184" name="errorneous1.png" descr="errorneous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51697" y="2086108"/>
            <a:ext cx="9901406" cy="74260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187" name="poor approximation-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poor approximation-2</a:t>
            </a:r>
          </a:p>
        </p:txBody>
      </p:sp>
      <p:pic>
        <p:nvPicPr>
          <p:cNvPr id="188" name="errorneous2.png" descr="errorneous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66052" y="2472142"/>
            <a:ext cx="9472696" cy="71045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191" name="low accurac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low accuracy </a:t>
            </a:r>
          </a:p>
        </p:txBody>
      </p:sp>
      <p:pic>
        <p:nvPicPr>
          <p:cNvPr id="192" name="bowen_poor_loss.png" descr="bowen_poor_loss.png"/>
          <p:cNvPicPr>
            <a:picLocks noChangeAspect="1"/>
          </p:cNvPicPr>
          <p:nvPr/>
        </p:nvPicPr>
        <p:blipFill>
          <a:blip r:embed="rId2">
            <a:extLst/>
          </a:blip>
          <a:srcRect l="0" t="1554" r="4466" b="0"/>
          <a:stretch>
            <a:fillRect/>
          </a:stretch>
        </p:blipFill>
        <p:spPr>
          <a:xfrm>
            <a:off x="1022746" y="2580144"/>
            <a:ext cx="11289799" cy="620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195" name="fitting after changing to run neural networ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fitting after changing to run neural network</a:t>
            </a:r>
          </a:p>
        </p:txBody>
      </p:sp>
      <p:pic>
        <p:nvPicPr>
          <p:cNvPr id="196" name="fit.png" descr="fi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62679" y="2336767"/>
            <a:ext cx="8080431" cy="60603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rain on actual tas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5675">
              <a:defRPr sz="13259"/>
            </a:lvl1pPr>
          </a:lstStyle>
          <a:p>
            <a:pPr/>
            <a:r>
              <a:t>train on actual task</a:t>
            </a:r>
          </a:p>
        </p:txBody>
      </p:sp>
      <p:sp>
        <p:nvSpPr>
          <p:cNvPr id="199" name="Mnist + CIFAr10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Mnist + CIFAr10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02" name="universal approximation theor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universal approximation theorem </a:t>
            </a:r>
          </a:p>
        </p:txBody>
      </p:sp>
      <p:sp>
        <p:nvSpPr>
          <p:cNvPr id="203" name="One of the first versions of the theorem was proved by George Cybenko in 1989 for sigmoid activation function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One of the first versions of the theorem was proved by George Cybenko in 1989 for sigmoid activation functions.</a:t>
            </a:r>
          </a:p>
          <a:p>
            <a:pPr/>
            <a:r>
              <a:t>Even a single layer neural network can approximate a given function with enough parameters.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06" name="why dee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3679">
              <a:spcBef>
                <a:spcPts val="0"/>
              </a:spcBef>
              <a:defRPr sz="6800"/>
            </a:lvl1pPr>
          </a:lstStyle>
          <a:p>
            <a:pPr/>
            <a:r>
              <a:t>why deep</a:t>
            </a:r>
          </a:p>
        </p:txBody>
      </p:sp>
      <p:sp>
        <p:nvSpPr>
          <p:cNvPr id="207" name="Are good minima easier to find in deep whether in shallow networks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Are good minima easier to find in deep whether in shallow networks?</a:t>
            </a:r>
          </a:p>
          <a:p>
            <a:pPr/>
            <a:r>
              <a:t>The main issue is that these very wide, shallow networks are very good at memorization, but not so good at generalization. </a:t>
            </a:r>
          </a:p>
          <a:p>
            <a:pPr marL="0" indent="0">
              <a:buClrTx/>
              <a:buSzTx/>
              <a:buFontTx/>
              <a:buNone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MNist datase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MNist dataset</a:t>
            </a:r>
          </a:p>
        </p:txBody>
      </p:sp>
      <p:sp>
        <p:nvSpPr>
          <p:cNvPr id="210" name="deep vs shallow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deep vs shallow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13" name="MNIST deep paramete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MNIST deep parameters</a:t>
            </a:r>
          </a:p>
        </p:txBody>
      </p:sp>
      <p:sp>
        <p:nvSpPr>
          <p:cNvPr id="214" name="_________________________________________________________________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Layer (type)                 Output Shape              Param #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=================================================================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dense_1 (Dense)              (None, 32)                25120  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dense_2 (Dense)              (None, 10)                330    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dense_3 (Dense)              (None, 30)                330    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dense_4 (Dense)              (None, 30)                930    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dense_5 (Dense)              (None, 10)                310    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activation_1 (Activation)    (None, 10)                0      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=================================================================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Total params: 27,020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Trainable params: 27,020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13000" algn="l"/>
                <a:tab pos="2755900" algn="l"/>
                <a:tab pos="3098800" algn="l"/>
                <a:tab pos="3441700" algn="l"/>
                <a:tab pos="3784600" algn="l"/>
                <a:tab pos="4127500" algn="l"/>
              </a:tabLst>
              <a:defRPr sz="194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Non-trainable params: 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17" name="MNIST Shallow paramete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MNIST Shallow parameters</a:t>
            </a:r>
          </a:p>
        </p:txBody>
      </p:sp>
      <p:sp>
        <p:nvSpPr>
          <p:cNvPr id="218" name="_________________________________________________________________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Layer (type)                 Output Shape              Param #   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=================================================================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dense_1 (Dense)              (None, 32)                25120     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dense_2 (Dense)              (None, 50)                1650      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dense_3 (Dense)              (None, 10)                510       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activation_1 (Activation)    (None, 10)                0         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=================================================================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Total params: 27,280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Trainable params: 27,280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Non-trainable params: 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21" name="MNIST deep accuracy -90.0%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MNIST deep accuracy -90.0%</a:t>
            </a:r>
          </a:p>
        </p:txBody>
      </p:sp>
      <p:pic>
        <p:nvPicPr>
          <p:cNvPr id="222" name="mnist_deep_accuracy.png" descr="mnist_deep_accuracy.png"/>
          <p:cNvPicPr>
            <a:picLocks noChangeAspect="1"/>
          </p:cNvPicPr>
          <p:nvPr/>
        </p:nvPicPr>
        <p:blipFill>
          <a:blip r:embed="rId2">
            <a:extLst/>
          </a:blip>
          <a:srcRect l="7111" t="5576" r="9052" b="0"/>
          <a:stretch>
            <a:fillRect/>
          </a:stretch>
        </p:blipFill>
        <p:spPr>
          <a:xfrm>
            <a:off x="155736" y="2733655"/>
            <a:ext cx="12361022" cy="69175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25" name="mNIST Shallow accuracy - 96.7%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mNIST Shallow accuracy - 96.7%</a:t>
            </a:r>
          </a:p>
        </p:txBody>
      </p:sp>
      <p:pic>
        <p:nvPicPr>
          <p:cNvPr id="226" name="mnist_shallow_accuracy.png" descr="mnist_shallow_accuracy.png"/>
          <p:cNvPicPr>
            <a:picLocks noChangeAspect="0"/>
          </p:cNvPicPr>
          <p:nvPr/>
        </p:nvPicPr>
        <p:blipFill>
          <a:blip r:embed="rId2">
            <a:extLst/>
          </a:blip>
          <a:srcRect l="0" t="5176" r="6730" b="1139"/>
          <a:stretch>
            <a:fillRect/>
          </a:stretch>
        </p:blipFill>
        <p:spPr>
          <a:xfrm>
            <a:off x="408983" y="2583118"/>
            <a:ext cx="12187337" cy="70975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29" name="mNIST deep los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mNIST deep loss</a:t>
            </a:r>
          </a:p>
        </p:txBody>
      </p:sp>
      <p:pic>
        <p:nvPicPr>
          <p:cNvPr id="230" name="mnist_deep_loss.png" descr="mnist_deep_loss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2186893"/>
            <a:ext cx="13004800" cy="75667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33" name="mNIST shallow los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mNIST shallow loss</a:t>
            </a:r>
          </a:p>
        </p:txBody>
      </p:sp>
      <p:pic>
        <p:nvPicPr>
          <p:cNvPr id="234" name="mnist_shallow_loss.png" descr="mnist_shallow_loss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2475169"/>
            <a:ext cx="12766895" cy="72784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37" name="why shallow performs better in this case-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why shallow performs better in this case-1</a:t>
            </a:r>
          </a:p>
        </p:txBody>
      </p:sp>
      <p:sp>
        <p:nvSpPr>
          <p:cNvPr id="238" name="Increasing the number of hidden layers might improve the accuracy or might no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Increasing the number of hidden layers might improve the accuracy or might not</a:t>
            </a:r>
          </a:p>
          <a:p>
            <a:pPr/>
            <a:r>
              <a:t>If the problem is too simple, using deep networks could be analogous of approximating a linear function of polynomial lines</a:t>
            </a:r>
          </a:p>
          <a:p>
            <a:pPr/>
            <a:r>
              <a:t>It depends on the complexity of the problem that you are trying to solve.</a:t>
            </a:r>
          </a:p>
          <a:p>
            <a:pPr/>
            <a:r>
              <a:t>MNIST seems to be too simple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41" name="why shallow performs better in this case-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why shallow performs better in this case-2</a:t>
            </a:r>
          </a:p>
        </p:txBody>
      </p:sp>
      <p:sp>
        <p:nvSpPr>
          <p:cNvPr id="242" name="Increasing the number of hidden layers much more than the sufficient number of layers will cause accuracy in the test set to decrease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Increasing the number of hidden layers much more than the sufficient number of layers will cause accuracy in the test set to decrease. </a:t>
            </a:r>
          </a:p>
          <a:p>
            <a:pPr/>
            <a:r>
              <a:t>It will cause your network to overfit to the training set, that is, it will learn the training data, but it won't be able to generalize to new unseen data.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igar10 datase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cigar10 dataset</a:t>
            </a:r>
          </a:p>
        </p:txBody>
      </p:sp>
      <p:sp>
        <p:nvSpPr>
          <p:cNvPr id="245" name="deep vs shallow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deep vs shallow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48" name="cifar10 deep paramete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cifar10 deep parameters</a:t>
            </a:r>
          </a:p>
        </p:txBody>
      </p:sp>
      <p:sp>
        <p:nvSpPr>
          <p:cNvPr id="249" name="_________________________________________________________________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Layer (type)                 Output Shape              Param #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=================================================================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dense_1 (Dense)              (None, 32)                98336  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dense_2 (Dense)              (None, 10)                330    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dense_3 (Dense)              (None, 10)                110    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dense_4 (Dense)              (None, 10)                110    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dense_5 (Dense)              (None, 10)                110    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activation_1 (Activation)    (None, 10)                0         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=================================================================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Total params: 98,996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Trainable params: 98,996</a:t>
            </a:r>
          </a:p>
          <a:p>
            <a:pPr marL="0" indent="0" defTabSz="914400">
              <a:spcBef>
                <a:spcPts val="0"/>
              </a:spcBef>
              <a:buClrTx/>
              <a:buSzTx/>
              <a:buFontTx/>
              <a:buNone/>
              <a:tabLst>
                <a:tab pos="241300" algn="l"/>
                <a:tab pos="495300" algn="l"/>
                <a:tab pos="749300" algn="l"/>
                <a:tab pos="1003300" algn="l"/>
                <a:tab pos="1257300" algn="l"/>
                <a:tab pos="1511300" algn="l"/>
                <a:tab pos="1765300" algn="l"/>
                <a:tab pos="2019300" algn="l"/>
                <a:tab pos="2260600" algn="l"/>
                <a:tab pos="2514600" algn="l"/>
                <a:tab pos="2768600" algn="l"/>
                <a:tab pos="3022600" algn="l"/>
              </a:tabLst>
              <a:defRPr sz="1775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Non-trainable params: 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52" name="cifar10 shallow paramete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cifar10 shallow parameters</a:t>
            </a:r>
          </a:p>
        </p:txBody>
      </p:sp>
      <p:sp>
        <p:nvSpPr>
          <p:cNvPr id="253" name="_________________________________________________________________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Layer (type)                 Output Shape              Param #   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=================================================================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dense_1 (Dense)              (None, 32)                98336     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dense_2 (Dense)              (None, 100)               3300      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dense_3 (Dense)              (None, 10)                1010      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_________________________________________________________________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activation_1 (Activation)    (None, 10)                0         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=================================================================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Total params: 102,646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Trainable params: 102,646</a:t>
            </a:r>
          </a:p>
          <a:p>
            <a:pPr marL="0" indent="0" defTabSz="12700">
              <a:spcBef>
                <a:spcPts val="0"/>
              </a:spcBef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4F4F4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Non-trainable params: 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IFAR10 deep accuracy -9.8%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CIFAR10 deep accuracy -9.8%</a:t>
            </a:r>
          </a:p>
        </p:txBody>
      </p:sp>
      <p:pic>
        <p:nvPicPr>
          <p:cNvPr id="256" name="cifar_deep_accuracy.png" descr="cifar_deep_accuracy.png"/>
          <p:cNvPicPr>
            <a:picLocks noChangeAspect="1"/>
          </p:cNvPicPr>
          <p:nvPr/>
        </p:nvPicPr>
        <p:blipFill>
          <a:blip r:embed="rId2">
            <a:extLst/>
          </a:blip>
          <a:srcRect l="5141" t="0" r="5141" b="5066"/>
          <a:stretch>
            <a:fillRect/>
          </a:stretch>
        </p:blipFill>
        <p:spPr>
          <a:xfrm>
            <a:off x="-314440" y="2211744"/>
            <a:ext cx="13633680" cy="75744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CIFAR10 shallow accuracy -43.2%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CIFAR10 shallow accuracy -43.2%</a:t>
            </a:r>
          </a:p>
        </p:txBody>
      </p:sp>
      <p:pic>
        <p:nvPicPr>
          <p:cNvPr id="259" name="cifar_shallow_accuracy.png" descr="cifar_shallow_accuracy.png"/>
          <p:cNvPicPr>
            <a:picLocks noChangeAspect="1"/>
          </p:cNvPicPr>
          <p:nvPr/>
        </p:nvPicPr>
        <p:blipFill>
          <a:blip r:embed="rId2">
            <a:extLst/>
          </a:blip>
          <a:srcRect l="4791" t="0" r="4791" b="5620"/>
          <a:stretch>
            <a:fillRect/>
          </a:stretch>
        </p:blipFill>
        <p:spPr>
          <a:xfrm>
            <a:off x="13515" y="2322072"/>
            <a:ext cx="12977770" cy="7059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CIFAR10 deep los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CIFAR10 deep loss</a:t>
            </a:r>
          </a:p>
        </p:txBody>
      </p:sp>
      <p:pic>
        <p:nvPicPr>
          <p:cNvPr id="262" name="cifar_deep_loss.png" descr="cifar_deep_loss.png"/>
          <p:cNvPicPr>
            <a:picLocks noChangeAspect="1"/>
          </p:cNvPicPr>
          <p:nvPr/>
        </p:nvPicPr>
        <p:blipFill>
          <a:blip r:embed="rId2">
            <a:extLst/>
          </a:blip>
          <a:srcRect l="6500" t="0" r="6500" b="4779"/>
          <a:stretch>
            <a:fillRect/>
          </a:stretch>
        </p:blipFill>
        <p:spPr>
          <a:xfrm>
            <a:off x="-242616" y="2134446"/>
            <a:ext cx="13490032" cy="77168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IFAR10 shallow los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CIFAR10 shallow loss</a:t>
            </a:r>
          </a:p>
        </p:txBody>
      </p:sp>
      <p:pic>
        <p:nvPicPr>
          <p:cNvPr id="265" name="cifar_shallow_loss.png" descr="cifar_shallow_loss.png"/>
          <p:cNvPicPr>
            <a:picLocks noChangeAspect="1"/>
          </p:cNvPicPr>
          <p:nvPr/>
        </p:nvPicPr>
        <p:blipFill>
          <a:blip r:embed="rId2">
            <a:extLst/>
          </a:blip>
          <a:srcRect l="7947" t="0" r="7947" b="5346"/>
          <a:stretch>
            <a:fillRect/>
          </a:stretch>
        </p:blipFill>
        <p:spPr>
          <a:xfrm>
            <a:off x="45291" y="2181155"/>
            <a:ext cx="12914218" cy="75848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68" name="why shallow performs better in this ca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why shallow performs better in this case</a:t>
            </a:r>
          </a:p>
        </p:txBody>
      </p:sp>
      <p:sp>
        <p:nvSpPr>
          <p:cNvPr id="269" name="Depends on other factors such as regularization to avoid overfitting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Depends on other factors such as regularization to avoid overfitting. </a:t>
            </a:r>
          </a:p>
          <a:p>
            <a:pPr/>
            <a:r>
              <a:t>Trying to solve an ordinary problem, given a shallow and a really deep network, training both for the same number of epochs, one would probably get a better test accuracy in the shallow one.</a:t>
            </a:r>
          </a:p>
          <a:p>
            <a:pPr/>
            <a:r>
              <a:t>Learning rate might be too big for CIFAR10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72" name="most common issu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most common issues </a:t>
            </a:r>
          </a:p>
        </p:txBody>
      </p:sp>
      <p:sp>
        <p:nvSpPr>
          <p:cNvPr id="273" name="Not enough epochs so the network might stuck on a plateau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44500" indent="-444500">
              <a:defRPr sz="5000"/>
            </a:pPr>
            <a:r>
              <a:t>Not enough epochs so the network might stuck on a plateau </a:t>
            </a:r>
          </a:p>
          <a:p>
            <a:pPr marL="444500" indent="-444500">
              <a:defRPr sz="5000"/>
            </a:pPr>
            <a:r>
              <a:t>Learning rate too big which might skip local minimums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76" name="Additional issues why shallow seems bett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pPr/>
            <a:r>
              <a:t>Additional issues why shallow seems better</a:t>
            </a:r>
          </a:p>
        </p:txBody>
      </p:sp>
      <p:sp>
        <p:nvSpPr>
          <p:cNvPr id="277" name="When a neural network is very deep for a given problem, it tends to try and recreate the identity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When a neural network is very deep for a given problem, it tends to try and recreate the identity. </a:t>
            </a:r>
          </a:p>
          <a:p>
            <a:pPr/>
            <a:r>
              <a:t>Usually the first layer of the neural network effectively optimizes the task. The following layers are merely adding noise.</a:t>
            </a:r>
          </a:p>
          <a:p>
            <a:pPr/>
            <a:r>
              <a:t>Not good trying to make an identity function from a nonlinear set of activations.</a:t>
            </a:r>
          </a:p>
          <a:p>
            <a:pPr/>
            <a:r>
              <a:t>RESNET proposed to skip over activations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end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end</a:t>
            </a:r>
          </a:p>
        </p:txBody>
      </p:sp>
      <p:sp>
        <p:nvSpPr>
          <p:cNvPr id="280" name="thank you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222222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all" i="0" spc="0" strike="noStrike" sz="2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all" i="0" spc="0" strike="noStrike" sz="2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