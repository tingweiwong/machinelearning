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  <p:sldMasterId id="2147483672" r:id="rId2"/>
  </p:sldMasterIdLst>
  <p:notesMasterIdLst>
    <p:notesMasterId r:id="rId22"/>
  </p:notes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4" r:id="rId15"/>
    <p:sldId id="275" r:id="rId16"/>
    <p:sldId id="276" r:id="rId17"/>
    <p:sldId id="277" r:id="rId18"/>
    <p:sldId id="278" r:id="rId19"/>
    <p:sldId id="279" r:id="rId20"/>
    <p:sldId id="280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5"/>
    <p:restoredTop sz="94664"/>
  </p:normalViewPr>
  <p:slideViewPr>
    <p:cSldViewPr snapToGrid="0" snapToObjects="1">
      <p:cViewPr varScale="1">
        <p:scale>
          <a:sx n="102" d="100"/>
          <a:sy n="102" d="100"/>
        </p:scale>
        <p:origin x="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77278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910edee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910edee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9019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910edee9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910edee9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50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910edee9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910edee9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2658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910edee9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910edee9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Alpha:</a:t>
            </a:r>
            <a:r>
              <a:rPr lang="zh-TW" altLang="en-US" dirty="0" smtClean="0"/>
              <a:t>學習效率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1843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f9680945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f9680945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7868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910edee95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910edee95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3249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f968094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f968094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1112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f968094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f968094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3481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f968094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f968094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776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910edee9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910edee9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9757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b0ed68e1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b0ed68e1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6447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8616909e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8616909e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9553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b08a8f4f4_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b08a8f4f4_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279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bb6209d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bbb6209d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190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bb6209d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bb6209d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966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bb6209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bb6209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Temporal difference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4889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bb68b0e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bb68b0e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10133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bb68b0e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bbb68b0e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70641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bb6209d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bbb6209d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7347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7007735" y="4235850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" name="Google Shape;56;p14"/>
          <p:cNvCxnSpPr/>
          <p:nvPr/>
        </p:nvCxnSpPr>
        <p:spPr>
          <a:xfrm>
            <a:off x="1575035" y="421100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7" name="Google Shape;57;p14"/>
          <p:cNvGrpSpPr/>
          <p:nvPr/>
        </p:nvGrpSpPr>
        <p:grpSpPr>
          <a:xfrm>
            <a:off x="1004144" y="1362666"/>
            <a:ext cx="7136668" cy="203195"/>
            <a:chOff x="1346429" y="1011300"/>
            <a:chExt cx="6452100" cy="152400"/>
          </a:xfrm>
        </p:grpSpPr>
        <p:cxnSp>
          <p:nvCxnSpPr>
            <p:cNvPr id="58" name="Google Shape;58;p1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60" name="Google Shape;60;p14"/>
          <p:cNvGrpSpPr/>
          <p:nvPr/>
        </p:nvGrpSpPr>
        <p:grpSpPr>
          <a:xfrm>
            <a:off x="1004151" y="5292001"/>
            <a:ext cx="7136668" cy="203195"/>
            <a:chOff x="1346435" y="3969088"/>
            <a:chExt cx="6452100" cy="152400"/>
          </a:xfrm>
        </p:grpSpPr>
        <p:cxnSp>
          <p:nvCxnSpPr>
            <p:cNvPr id="61" name="Google Shape;61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1004150" y="2335685"/>
            <a:ext cx="71367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2137225" y="3800052"/>
            <a:ext cx="48705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-50" y="3429200"/>
            <a:ext cx="91440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1086400"/>
            <a:ext cx="8571300" cy="12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311700" y="1688233"/>
            <a:ext cx="39999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2"/>
          </p:nvPr>
        </p:nvSpPr>
        <p:spPr>
          <a:xfrm>
            <a:off x="4832400" y="1688233"/>
            <a:ext cx="39999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title"/>
          </p:nvPr>
        </p:nvSpPr>
        <p:spPr>
          <a:xfrm>
            <a:off x="490250" y="701800"/>
            <a:ext cx="56136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" name="Google Shape;92;p21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>
            <a:off x="265500" y="1386233"/>
            <a:ext cx="4045200" cy="2234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subTitle" idx="1"/>
          </p:nvPr>
        </p:nvSpPr>
        <p:spPr>
          <a:xfrm>
            <a:off x="265500" y="36358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>
            <a:spLocks noGrp="1"/>
          </p:cNvSpPr>
          <p:nvPr>
            <p:ph type="body" idx="1"/>
          </p:nvPr>
        </p:nvSpPr>
        <p:spPr>
          <a:xfrm>
            <a:off x="311700" y="5640967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-75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739800"/>
            <a:ext cx="8520600" cy="20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>
            <a:spLocks noGrp="1"/>
          </p:cNvSpPr>
          <p:nvPr>
            <p:ph type="body" idx="1"/>
          </p:nvPr>
        </p:nvSpPr>
        <p:spPr>
          <a:xfrm>
            <a:off x="311700" y="39942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>
            <a:spLocks noGrp="1"/>
          </p:cNvSpPr>
          <p:nvPr>
            <p:ph type="title"/>
          </p:nvPr>
        </p:nvSpPr>
        <p:spPr>
          <a:xfrm>
            <a:off x="914400" y="274638"/>
            <a:ext cx="77724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ft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25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algn="l" rtl="0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ymbol"/>
              <a:buChar char="●"/>
              <a:defRPr/>
            </a:lvl1pPr>
            <a:lvl2pPr marL="914400" lvl="1" indent="-3175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ymbol"/>
              <a:buChar char="●"/>
              <a:defRPr/>
            </a:lvl2pPr>
            <a:lvl3pPr marL="1371600" lvl="2" indent="-317500" algn="l" rtl="0">
              <a:spcBef>
                <a:spcPts val="1600"/>
              </a:spcBef>
              <a:spcAft>
                <a:spcPts val="0"/>
              </a:spcAft>
              <a:buClr>
                <a:srgbClr val="F0C1B0"/>
              </a:buClr>
              <a:buSzPts val="1400"/>
              <a:buFont typeface="Noto Symbol"/>
              <a:buChar char="●"/>
              <a:defRPr/>
            </a:lvl3pPr>
            <a:lvl4pPr marL="1828800" lvl="3" indent="-317500" algn="l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ymbol"/>
              <a:buChar char="●"/>
              <a:defRPr/>
            </a:lvl4pPr>
            <a:lvl5pPr marL="2286000" lvl="4" indent="-317500" algn="l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ibre Baskerville"/>
              <a:buChar char="o"/>
              <a:defRPr/>
            </a:lvl5pPr>
            <a:lvl6pPr marL="2743200" lvl="5" indent="-317500" algn="l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ibre Baskerville"/>
              <a:buChar char="•"/>
              <a:defRPr/>
            </a:lvl6pPr>
            <a:lvl7pPr marL="3200400" lvl="6" indent="-3175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ibre Baskerville"/>
              <a:buChar char="•"/>
              <a:defRPr/>
            </a:lvl7pPr>
            <a:lvl8pPr marL="3657600" lvl="7" indent="-317500" algn="l" rtl="0">
              <a:spcBef>
                <a:spcPts val="1600"/>
              </a:spcBef>
              <a:spcAft>
                <a:spcPts val="0"/>
              </a:spcAft>
              <a:buClr>
                <a:srgbClr val="F0C1B0"/>
              </a:buClr>
              <a:buSzPts val="1400"/>
              <a:buFont typeface="Libre Baskerville"/>
              <a:buChar char="•"/>
              <a:defRPr/>
            </a:lvl8pPr>
            <a:lvl9pPr marL="4114800" lvl="8" indent="-317500" algn="l" rtl="0">
              <a:spcBef>
                <a:spcPts val="1600"/>
              </a:spcBef>
              <a:spcAft>
                <a:spcPts val="1600"/>
              </a:spcAft>
              <a:buClr>
                <a:srgbClr val="DDB8B3"/>
              </a:buClr>
              <a:buSzPts val="1400"/>
              <a:buFont typeface="Libre Baskerville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44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rxiv.org/pdf/1710.02298.pdf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rll.berkeley.edu/deeprlcourse/#lecture-videos" TargetMode="External"/><Relationship Id="rId4" Type="http://schemas.openxmlformats.org/officeDocument/2006/relationships/hyperlink" Target="http://www0.cs.ucl.ac.uk/staff/d.silver/web/Teaching.html" TargetMode="External"/><Relationship Id="rId5" Type="http://schemas.openxmlformats.org/officeDocument/2006/relationships/hyperlink" Target="https://goo.gl/v5ig6e" TargetMode="External"/><Relationship Id="rId6" Type="http://schemas.openxmlformats.org/officeDocument/2006/relationships/hyperlink" Target="http://karpathy.github.io/2016/05/31/rl/" TargetMode="External"/><Relationship Id="rId7" Type="http://schemas.openxmlformats.org/officeDocument/2006/relationships/hyperlink" Target="https://goo.gl/o3C8fF" TargetMode="External"/><Relationship Id="rId8" Type="http://schemas.openxmlformats.org/officeDocument/2006/relationships/hyperlink" Target="http://incompleteideas.net/sutton/book/the-book-2nd.html" TargetMode="External"/><Relationship Id="rId9" Type="http://schemas.openxmlformats.org/officeDocument/2006/relationships/hyperlink" Target="https://github.com/williamFalcon/DeepRLHacks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710.02298.pdf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11.05952.pdf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11.05952.pdf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11.05952.pdf" TargetMode="External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ctrTitle"/>
          </p:nvPr>
        </p:nvSpPr>
        <p:spPr>
          <a:xfrm>
            <a:off x="1004150" y="2335685"/>
            <a:ext cx="71367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MLDS 2018 </a:t>
            </a:r>
            <a:r>
              <a:rPr lang="en-US" altLang="zh-TW"/>
              <a:t>F</a:t>
            </a:r>
            <a:r>
              <a:rPr lang="en-US" altLang="zh-TW" smtClean="0"/>
              <a:t>all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HW4-2 - Deep Q Learning</a:t>
            </a:r>
            <a:endParaRPr dirty="0"/>
          </a:p>
        </p:txBody>
      </p:sp>
      <p:sp>
        <p:nvSpPr>
          <p:cNvPr id="118" name="Google Shape;118;p26"/>
          <p:cNvSpPr txBox="1">
            <a:spLocks noGrp="1"/>
          </p:cNvSpPr>
          <p:nvPr>
            <p:ph type="subTitle" idx="1"/>
          </p:nvPr>
        </p:nvSpPr>
        <p:spPr>
          <a:xfrm>
            <a:off x="311700" y="3778819"/>
            <a:ext cx="8520600" cy="17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2018</a:t>
            </a:r>
            <a:r>
              <a:rPr lang="zh-TW" dirty="0" smtClean="0"/>
              <a:t>/</a:t>
            </a:r>
            <a:r>
              <a:rPr lang="en-US" altLang="zh-TW" dirty="0" smtClean="0"/>
              <a:t>12</a:t>
            </a:r>
            <a:r>
              <a:rPr lang="zh-TW" dirty="0" smtClean="0"/>
              <a:t>/</a:t>
            </a:r>
            <a:r>
              <a:rPr lang="en-US" altLang="zh-TW" smtClean="0"/>
              <a:t>21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 err="1" smtClean="0"/>
              <a:t>adlxmlds</a:t>
            </a:r>
            <a:r>
              <a:rPr lang="zh-TW" dirty="0" smtClean="0"/>
              <a:t>@</a:t>
            </a:r>
            <a:r>
              <a:rPr lang="zh-TW" dirty="0"/>
              <a:t>gmail.com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body" idx="1"/>
          </p:nvPr>
        </p:nvSpPr>
        <p:spPr>
          <a:xfrm>
            <a:off x="311700" y="1383633"/>
            <a:ext cx="8520600" cy="51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zh-TW" sz="2400">
                <a:solidFill>
                  <a:srgbClr val="000000"/>
                </a:solidFill>
              </a:rPr>
              <a:t>Introduction</a:t>
            </a:r>
            <a:endParaRPr sz="2400">
              <a:solidFill>
                <a:srgbClr val="000000"/>
              </a:solidFill>
            </a:endParaRPr>
          </a:p>
          <a:p>
            <a:pPr marL="914400" marR="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>
                <a:solidFill>
                  <a:srgbClr val="000000"/>
                </a:solidFill>
              </a:rPr>
              <a:t>Game Playing : Breakout</a:t>
            </a:r>
            <a:endParaRPr sz="2000">
              <a:solidFill>
                <a:srgbClr val="000000"/>
              </a:solidFill>
            </a:endParaRPr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zh-TW" sz="2400">
                <a:solidFill>
                  <a:srgbClr val="000000"/>
                </a:solidFill>
              </a:rPr>
              <a:t>Deep Reinforcement Learning</a:t>
            </a:r>
            <a:endParaRPr sz="24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>
                <a:solidFill>
                  <a:srgbClr val="000000"/>
                </a:solidFill>
              </a:rPr>
              <a:t>Deep Q-Learning (DQN)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>
                <a:solidFill>
                  <a:srgbClr val="000000"/>
                </a:solidFill>
              </a:rPr>
              <a:t>Improvements to DQN</a:t>
            </a:r>
            <a:endParaRPr sz="2000">
              <a:solidFill>
                <a:srgbClr val="000000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zh-TW" sz="2400">
                <a:solidFill>
                  <a:srgbClr val="000000"/>
                </a:solidFill>
              </a:rPr>
              <a:t>Grading &amp; Format</a:t>
            </a:r>
            <a:endParaRPr sz="24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>
                <a:solidFill>
                  <a:srgbClr val="000000"/>
                </a:solidFill>
              </a:rPr>
              <a:t>Grading Policy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>
                <a:solidFill>
                  <a:srgbClr val="000000"/>
                </a:solidFill>
              </a:rPr>
              <a:t>Code Format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>
                <a:solidFill>
                  <a:srgbClr val="000000"/>
                </a:solidFill>
              </a:rPr>
              <a:t>Report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>
                <a:solidFill>
                  <a:srgbClr val="000000"/>
                </a:solidFill>
              </a:rPr>
              <a:t>Submission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37" name="Google Shape;137;p29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Outline</a:t>
            </a:r>
            <a:endParaRPr sz="3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Environment</a:t>
            </a:r>
            <a:endParaRPr/>
          </a:p>
        </p:txBody>
      </p:sp>
      <p:sp>
        <p:nvSpPr>
          <p:cNvPr id="143" name="Google Shape;143;p30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Introduction</a:t>
            </a: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144" name="Google Shape;1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266" y="2143028"/>
            <a:ext cx="3499475" cy="417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0"/>
          <p:cNvSpPr txBox="1"/>
          <p:nvPr/>
        </p:nvSpPr>
        <p:spPr>
          <a:xfrm>
            <a:off x="3337025" y="1473850"/>
            <a:ext cx="24465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Breakout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Deep Q-Learning (DQN) </a:t>
            </a:r>
            <a:endParaRPr/>
          </a:p>
        </p:txBody>
      </p:sp>
      <p:sp>
        <p:nvSpPr>
          <p:cNvPr id="151" name="Google Shape;151;p31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Deep Reinforcement Learning</a:t>
            </a:r>
            <a:endParaRPr sz="3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152" name="Google Shape;1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75" y="2047325"/>
            <a:ext cx="8991600" cy="266183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1"/>
          <p:cNvSpPr txBox="1"/>
          <p:nvPr/>
        </p:nvSpPr>
        <p:spPr>
          <a:xfrm>
            <a:off x="7491050" y="2205625"/>
            <a:ext cx="16956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Replay buffer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Deep Q-Learning (DQN) </a:t>
            </a:r>
            <a:endParaRPr/>
          </a:p>
        </p:txBody>
      </p:sp>
      <p:sp>
        <p:nvSpPr>
          <p:cNvPr id="159" name="Google Shape;159;p32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Deep Reinforcement Learning</a:t>
            </a:r>
            <a:endParaRPr sz="3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FFFFFF"/>
              </a:solidFill>
            </a:endParaRPr>
          </a:p>
        </p:txBody>
      </p:sp>
      <p:sp>
        <p:nvSpPr>
          <p:cNvPr id="160" name="Google Shape;160;p32"/>
          <p:cNvSpPr txBox="1"/>
          <p:nvPr/>
        </p:nvSpPr>
        <p:spPr>
          <a:xfrm>
            <a:off x="133775" y="1649850"/>
            <a:ext cx="8873400" cy="39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The action should act </a:t>
            </a:r>
            <a:r>
              <a:rPr lang="zh-TW" sz="2400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ε-greedily</a:t>
            </a:r>
            <a:endParaRPr sz="2400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Random action with probability ε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Linearly decline ε</a:t>
            </a: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 from 1.0 to some small value, say 0.025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Decline per step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Randomness is for exploration, agent is weak at start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Hyperparameters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Replay Memory Size 10000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Perform Update Current Network Step 4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Perform Update Target Network Step 1000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Learning Rate 1.5e-4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Batch Size 32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Improvements to DQN</a:t>
            </a:r>
            <a:endParaRPr/>
          </a:p>
        </p:txBody>
      </p:sp>
      <p:sp>
        <p:nvSpPr>
          <p:cNvPr id="166" name="Google Shape;166;p33"/>
          <p:cNvSpPr txBox="1">
            <a:spLocks noGrp="1"/>
          </p:cNvSpPr>
          <p:nvPr>
            <p:ph type="body" idx="1"/>
          </p:nvPr>
        </p:nvSpPr>
        <p:spPr>
          <a:xfrm>
            <a:off x="311700" y="1688428"/>
            <a:ext cx="8520600" cy="29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Double Q-Learning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Dueling Network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Prioritized Replay Memory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Noisy DQN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Distributional DQN</a:t>
            </a:r>
            <a:endParaRPr sz="2400"/>
          </a:p>
        </p:txBody>
      </p:sp>
      <p:sp>
        <p:nvSpPr>
          <p:cNvPr id="167" name="Google Shape;167;p33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Deep Reinforcement Learning</a:t>
            </a:r>
            <a:endParaRPr sz="3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 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168" name="Google Shape;168;p33"/>
          <p:cNvSpPr txBox="1"/>
          <p:nvPr/>
        </p:nvSpPr>
        <p:spPr>
          <a:xfrm>
            <a:off x="311700" y="5321125"/>
            <a:ext cx="71175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hlink"/>
                </a:solidFill>
                <a:hlinkClick r:id="rId3"/>
              </a:rPr>
              <a:t>https://arxiv.org/pdf/1710.02298.pdf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Training Plot</a:t>
            </a:r>
            <a:endParaRPr/>
          </a:p>
        </p:txBody>
      </p:sp>
      <p:sp>
        <p:nvSpPr>
          <p:cNvPr id="174" name="Google Shape;174;p34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Training Tips</a:t>
            </a: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175" name="Google Shape;1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36575"/>
            <a:ext cx="9143999" cy="274763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4"/>
          <p:cNvSpPr txBox="1"/>
          <p:nvPr/>
        </p:nvSpPr>
        <p:spPr>
          <a:xfrm>
            <a:off x="249700" y="4574975"/>
            <a:ext cx="8400900" cy="17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X-axis : 1000 episodes/unit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Y-axis : </a:t>
            </a:r>
            <a:r>
              <a:rPr lang="zh-TW" sz="2400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Unclipped</a:t>
            </a: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 reward per </a:t>
            </a:r>
            <a:r>
              <a:rPr lang="zh-TW" sz="2400" dirty="0" smtClean="0">
                <a:latin typeface="Open Sans"/>
                <a:ea typeface="Open Sans"/>
                <a:cs typeface="Open Sans"/>
                <a:sym typeface="Open Sans"/>
              </a:rPr>
              <a:t>episode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7" name="Google Shape;177;p34"/>
          <p:cNvCxnSpPr/>
          <p:nvPr/>
        </p:nvCxnSpPr>
        <p:spPr>
          <a:xfrm>
            <a:off x="461700" y="3633575"/>
            <a:ext cx="86148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Why Reward is clipped</a:t>
            </a:r>
            <a:endParaRPr/>
          </a:p>
        </p:txBody>
      </p:sp>
      <p:sp>
        <p:nvSpPr>
          <p:cNvPr id="183" name="Google Shape;183;p35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Training Tips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184" name="Google Shape;184;p35"/>
          <p:cNvSpPr txBox="1"/>
          <p:nvPr/>
        </p:nvSpPr>
        <p:spPr>
          <a:xfrm>
            <a:off x="359825" y="1536575"/>
            <a:ext cx="8400900" cy="46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>
                <a:latin typeface="Open Sans"/>
                <a:ea typeface="Open Sans"/>
                <a:cs typeface="Open Sans"/>
                <a:sym typeface="Open Sans"/>
              </a:rPr>
              <a:t>Performing the same action for 4 frames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>
                <a:latin typeface="Open Sans"/>
                <a:ea typeface="Open Sans"/>
                <a:cs typeface="Open Sans"/>
                <a:sym typeface="Open Sans"/>
              </a:rPr>
              <a:t>To use data more efficiently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>
                <a:latin typeface="Open Sans"/>
                <a:ea typeface="Open Sans"/>
                <a:cs typeface="Open Sans"/>
                <a:sym typeface="Open Sans"/>
              </a:rPr>
              <a:t>Reward may be up to 4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>
                <a:latin typeface="Open Sans"/>
                <a:ea typeface="Open Sans"/>
                <a:cs typeface="Open Sans"/>
                <a:sym typeface="Open Sans"/>
              </a:rPr>
              <a:t>If positive, clip to 1 → reduce variance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>
                <a:latin typeface="Open Sans"/>
                <a:ea typeface="Open Sans"/>
                <a:cs typeface="Open Sans"/>
                <a:sym typeface="Open Sans"/>
              </a:rPr>
              <a:t>How to see your unclipped reward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AutoNum type="arabicPeriod"/>
            </a:pPr>
            <a:r>
              <a:rPr lang="zh-TW" sz="2000">
                <a:latin typeface="Open Sans"/>
                <a:ea typeface="Open Sans"/>
                <a:cs typeface="Open Sans"/>
                <a:sym typeface="Open Sans"/>
              </a:rPr>
              <a:t>Use the </a:t>
            </a:r>
            <a:r>
              <a:rPr lang="zh-TW" sz="2000" i="1">
                <a:latin typeface="Open Sans"/>
                <a:ea typeface="Open Sans"/>
                <a:cs typeface="Open Sans"/>
                <a:sym typeface="Open Sans"/>
              </a:rPr>
              <a:t>test</a:t>
            </a:r>
            <a:r>
              <a:rPr lang="zh-TW" sz="2000">
                <a:latin typeface="Open Sans"/>
                <a:ea typeface="Open Sans"/>
                <a:cs typeface="Open Sans"/>
                <a:sym typeface="Open Sans"/>
              </a:rPr>
              <a:t> function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AutoNum type="arabicPeriod"/>
            </a:pPr>
            <a:r>
              <a:rPr lang="zh-TW" sz="2000">
                <a:latin typeface="Open Sans"/>
                <a:ea typeface="Open Sans"/>
                <a:cs typeface="Open Sans"/>
                <a:sym typeface="Open Sans"/>
              </a:rPr>
              <a:t>Turn off the </a:t>
            </a:r>
            <a:r>
              <a:rPr lang="zh-TW" sz="2000" i="1">
                <a:latin typeface="Open Sans"/>
                <a:ea typeface="Open Sans"/>
                <a:cs typeface="Open Sans"/>
                <a:sym typeface="Open Sans"/>
              </a:rPr>
              <a:t>clip_reward</a:t>
            </a:r>
            <a:r>
              <a:rPr lang="zh-TW" sz="2000">
                <a:latin typeface="Open Sans"/>
                <a:ea typeface="Open Sans"/>
                <a:cs typeface="Open Sans"/>
                <a:sym typeface="Open Sans"/>
              </a:rPr>
              <a:t> option of your environment and do the clipping by yourself. 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Asynchronous Update (</a:t>
            </a:r>
            <a:r>
              <a:rPr lang="zh-TW" dirty="0" smtClean="0"/>
              <a:t>Optional)</a:t>
            </a:r>
            <a:endParaRPr dirty="0"/>
          </a:p>
        </p:txBody>
      </p:sp>
      <p:sp>
        <p:nvSpPr>
          <p:cNvPr id="190" name="Google Shape;190;p36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Training Tips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191" name="Google Shape;191;p36"/>
          <p:cNvSpPr txBox="1"/>
          <p:nvPr/>
        </p:nvSpPr>
        <p:spPr>
          <a:xfrm>
            <a:off x="359825" y="1536575"/>
            <a:ext cx="8400900" cy="50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In tensorflow, </a:t>
            </a:r>
            <a:r>
              <a:rPr lang="zh-TW" sz="2400" i="1" dirty="0">
                <a:latin typeface="Open Sans"/>
                <a:ea typeface="Open Sans"/>
                <a:cs typeface="Open Sans"/>
                <a:sym typeface="Open Sans"/>
              </a:rPr>
              <a:t>feed_dict</a:t>
            </a: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 does the copy thing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Upon updating, the agent have to wait for it to continue exploring.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Try run the update asynchronously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Main thread : Collect data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The other thread : Copy data to GPU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GPU : Training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Using the thread/multiprocessing module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-"/>
            </a:pP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This is totally </a:t>
            </a:r>
            <a:r>
              <a:rPr lang="zh-TW" sz="2400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not necessary for you to get baseline</a:t>
            </a:r>
            <a:r>
              <a:rPr lang="zh-TW" sz="2400" dirty="0">
                <a:latin typeface="Open Sans"/>
                <a:ea typeface="Open Sans"/>
                <a:cs typeface="Open Sans"/>
                <a:sym typeface="Open Sans"/>
              </a:rPr>
              <a:t>, just some speed-up you can try.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-"/>
            </a:pPr>
            <a:r>
              <a:rPr lang="zh-TW" sz="2000" dirty="0">
                <a:latin typeface="Open Sans"/>
                <a:ea typeface="Open Sans"/>
                <a:cs typeface="Open Sans"/>
                <a:sym typeface="Open Sans"/>
              </a:rPr>
              <a:t>This can go wrong and annoying if you’re not familiar with threading, thus I recommend not to try it unless you are confident enough.</a:t>
            </a:r>
            <a:endParaRPr sz="20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Grading &amp; Format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197" name="Google Shape;197;p3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Grading Policy</a:t>
            </a:r>
            <a:endParaRPr/>
          </a:p>
        </p:txBody>
      </p:sp>
      <p:sp>
        <p:nvSpPr>
          <p:cNvPr id="198" name="Google Shape;198;p37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50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TW" sz="2400" dirty="0"/>
              <a:t>Code </a:t>
            </a:r>
            <a:r>
              <a:rPr lang="zh-TW" sz="2400" dirty="0" smtClean="0"/>
              <a:t>Baseline</a:t>
            </a:r>
            <a:endParaRPr sz="2400"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zh-TW" sz="2400" dirty="0" smtClean="0"/>
              <a:t>Report</a:t>
            </a:r>
            <a:endParaRPr sz="2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Grading &amp; Format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04" name="Google Shape;204;p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 smtClean="0"/>
              <a:t>Baseline</a:t>
            </a:r>
            <a:endParaRPr dirty="0"/>
          </a:p>
        </p:txBody>
      </p:sp>
      <p:sp>
        <p:nvSpPr>
          <p:cNvPr id="205" name="Google Shape;205;p38"/>
          <p:cNvSpPr txBox="1">
            <a:spLocks noGrp="1"/>
          </p:cNvSpPr>
          <p:nvPr>
            <p:ph type="body" idx="1"/>
          </p:nvPr>
        </p:nvSpPr>
        <p:spPr>
          <a:xfrm>
            <a:off x="311700" y="1688433"/>
            <a:ext cx="8520600" cy="50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 smtClean="0"/>
              <a:t>DQN</a:t>
            </a:r>
            <a:endParaRPr sz="24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1800" dirty="0"/>
              <a:t>Getting averaging reward in 100 episodes over </a:t>
            </a:r>
            <a:r>
              <a:rPr lang="zh-TW" sz="1800" b="1" dirty="0"/>
              <a:t>40</a:t>
            </a:r>
            <a:r>
              <a:rPr lang="zh-TW" sz="1800" dirty="0"/>
              <a:t> in </a:t>
            </a:r>
            <a:r>
              <a:rPr lang="zh-TW" sz="1800" b="1" dirty="0"/>
              <a:t>Breakout</a:t>
            </a:r>
            <a:endParaRPr sz="1800"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dirty="0"/>
              <a:t>With</a:t>
            </a:r>
            <a:r>
              <a:rPr lang="zh-TW" sz="1800" dirty="0">
                <a:solidFill>
                  <a:srgbClr val="FF0000"/>
                </a:solidFill>
              </a:rPr>
              <a:t> OpenAI’s Atari wrapper</a:t>
            </a:r>
            <a:r>
              <a:rPr lang="zh-TW" sz="1800" dirty="0"/>
              <a:t> &amp; reward clipping</a:t>
            </a:r>
            <a:endParaRPr sz="1800" dirty="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dirty="0"/>
              <a:t>We will unclip the reward when testing</a:t>
            </a:r>
            <a:endParaRPr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Grading &amp; Format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18" name="Google Shape;218;p4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 smtClean="0"/>
              <a:t>Report</a:t>
            </a:r>
            <a:endParaRPr dirty="0"/>
          </a:p>
        </p:txBody>
      </p:sp>
      <p:sp>
        <p:nvSpPr>
          <p:cNvPr id="219" name="Google Shape;219;p40"/>
          <p:cNvSpPr txBox="1">
            <a:spLocks noGrp="1"/>
          </p:cNvSpPr>
          <p:nvPr>
            <p:ph type="body" idx="1"/>
          </p:nvPr>
        </p:nvSpPr>
        <p:spPr>
          <a:xfrm>
            <a:off x="311700" y="1363575"/>
            <a:ext cx="8520600" cy="53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000" dirty="0"/>
          </a:p>
          <a:p>
            <a:pPr marL="457200" marR="0" lvl="0" indent="-3810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Up to </a:t>
            </a:r>
            <a:r>
              <a:rPr lang="zh-TW" sz="2400" dirty="0">
                <a:solidFill>
                  <a:srgbClr val="FF0000"/>
                </a:solidFill>
              </a:rPr>
              <a:t>6</a:t>
            </a:r>
            <a:r>
              <a:rPr lang="zh-TW" sz="2400" dirty="0"/>
              <a:t> pages (4-1 + 4-2 + 4-3), in </a:t>
            </a:r>
            <a:r>
              <a:rPr lang="zh-TW" sz="2400" dirty="0">
                <a:solidFill>
                  <a:srgbClr val="FF0000"/>
                </a:solidFill>
              </a:rPr>
              <a:t>Chinese</a:t>
            </a:r>
            <a:endParaRPr sz="2400" dirty="0">
              <a:solidFill>
                <a:srgbClr val="FF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Describe your DQN </a:t>
            </a:r>
            <a:r>
              <a:rPr lang="zh-TW" sz="2000" dirty="0" smtClean="0"/>
              <a:t>model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Plot the learning curve to show the performance of your Deep Q Learning on </a:t>
            </a:r>
            <a:r>
              <a:rPr lang="zh-TW" sz="2000" dirty="0" smtClean="0"/>
              <a:t>Breakout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X-axis: number of time steps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Y-axis: average reward in last 30 episodes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Implement </a:t>
            </a:r>
            <a:r>
              <a:rPr lang="zh-TW" sz="2000" dirty="0">
                <a:solidFill>
                  <a:srgbClr val="FF0000"/>
                </a:solidFill>
              </a:rPr>
              <a:t>1</a:t>
            </a:r>
            <a:r>
              <a:rPr lang="zh-TW" sz="2000" dirty="0"/>
              <a:t> improvement method on page 6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Describe your tips for </a:t>
            </a:r>
            <a:r>
              <a:rPr lang="zh-TW" sz="2000" dirty="0" smtClean="0"/>
              <a:t>improvement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Learning </a:t>
            </a:r>
            <a:r>
              <a:rPr lang="zh-TW" sz="2000" dirty="0" smtClean="0"/>
              <a:t>curve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dirty="0"/>
              <a:t>Compare to origin Deep Q </a:t>
            </a:r>
            <a:r>
              <a:rPr lang="zh-TW" sz="2000" dirty="0" smtClean="0"/>
              <a:t>Learning</a:t>
            </a:r>
            <a:endParaRPr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/>
        </p:nvSpPr>
        <p:spPr>
          <a:xfrm>
            <a:off x="0" y="0"/>
            <a:ext cx="9144000" cy="683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Related Materials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46" name="Google Shape;246;p44"/>
          <p:cNvSpPr txBox="1">
            <a:spLocks noGrp="1"/>
          </p:cNvSpPr>
          <p:nvPr>
            <p:ph type="body" idx="1"/>
          </p:nvPr>
        </p:nvSpPr>
        <p:spPr>
          <a:xfrm>
            <a:off x="311700" y="1688425"/>
            <a:ext cx="88323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-"/>
            </a:pPr>
            <a:r>
              <a:rPr lang="zh-TW" sz="2400"/>
              <a:t>Course &amp; Tutorial:</a:t>
            </a:r>
            <a:endParaRPr sz="240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zh-TW" sz="1800" u="sng">
                <a:solidFill>
                  <a:schemeClr val="hlink"/>
                </a:solidFill>
                <a:hlinkClick r:id="rId3"/>
              </a:rPr>
              <a:t>Berkeley Deep Reinforcement Learning, Fall 2017</a:t>
            </a:r>
            <a:endParaRPr sz="1800">
              <a:solidFill>
                <a:srgbClr val="000000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zh-TW" sz="1800" u="sng">
                <a:solidFill>
                  <a:schemeClr val="hlink"/>
                </a:solidFill>
                <a:hlinkClick r:id="rId4"/>
              </a:rPr>
              <a:t>David Silver RL course</a:t>
            </a:r>
            <a:endParaRPr sz="1800">
              <a:solidFill>
                <a:srgbClr val="000000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zh-TW" sz="1800" u="sng">
                <a:solidFill>
                  <a:schemeClr val="hlink"/>
                </a:solidFill>
                <a:hlinkClick r:id="rId5"/>
              </a:rPr>
              <a:t>Nips 2016 RL tutorial</a:t>
            </a:r>
            <a:endParaRPr sz="1800">
              <a:solidFill>
                <a:srgbClr val="000000"/>
              </a:solidFill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-"/>
            </a:pPr>
            <a:r>
              <a:rPr lang="zh-TW" sz="2400"/>
              <a:t>Blog:</a:t>
            </a:r>
            <a:endParaRPr sz="24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 u="sng">
                <a:solidFill>
                  <a:schemeClr val="hlink"/>
                </a:solidFill>
                <a:hlinkClick r:id="rId6"/>
              </a:rPr>
              <a:t>Andrej Karpathy’s blog</a:t>
            </a:r>
            <a:endParaRPr sz="2000" u="sng">
              <a:solidFill>
                <a:schemeClr val="hlink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zh-TW" sz="2000" u="sng">
                <a:solidFill>
                  <a:schemeClr val="hlink"/>
                </a:solidFill>
                <a:hlinkClick r:id="rId7"/>
              </a:rPr>
              <a:t>Arthur Juliani’s Blog</a:t>
            </a:r>
            <a:endParaRPr sz="20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Text Book:</a:t>
            </a:r>
            <a:endParaRPr sz="24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 u="sng">
                <a:solidFill>
                  <a:schemeClr val="accent5"/>
                </a:solidFill>
                <a:hlinkClick r:id="rId8"/>
              </a:rPr>
              <a:t>Reinforcement Learning: An Introduction</a:t>
            </a:r>
            <a:endParaRPr sz="2000" u="sng">
              <a:solidFill>
                <a:schemeClr val="accent5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Repo:</a:t>
            </a:r>
            <a:endParaRPr sz="24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 sz="1800" u="sng">
                <a:solidFill>
                  <a:schemeClr val="accent5"/>
                </a:solidFill>
                <a:hlinkClick r:id="rId9"/>
              </a:rPr>
              <a:t>https://github.com/williamFalcon/DeepRLHacks</a:t>
            </a:r>
            <a:endParaRPr sz="2000" u="sng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Double DQN</a:t>
            </a:r>
            <a:endParaRPr/>
          </a:p>
        </p:txBody>
      </p:sp>
      <p:sp>
        <p:nvSpPr>
          <p:cNvPr id="252" name="Google Shape;252;p45"/>
          <p:cNvSpPr txBox="1">
            <a:spLocks noGrp="1"/>
          </p:cNvSpPr>
          <p:nvPr>
            <p:ph type="body" idx="1"/>
          </p:nvPr>
        </p:nvSpPr>
        <p:spPr>
          <a:xfrm>
            <a:off x="311700" y="1688425"/>
            <a:ext cx="85206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The formula </a:t>
            </a:r>
            <a:br>
              <a:rPr lang="zh-TW" sz="2400"/>
            </a:br>
            <a:r>
              <a:rPr lang="zh-TW" sz="2400"/>
              <a:t>often overestimates the maximum Q value.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Thus instead choose the action of the max Q in the target network, choose  the action of the max Q in the </a:t>
            </a:r>
            <a:r>
              <a:rPr lang="zh-TW" sz="2400">
                <a:solidFill>
                  <a:srgbClr val="FF0000"/>
                </a:solidFill>
              </a:rPr>
              <a:t>current network</a:t>
            </a:r>
            <a:r>
              <a:rPr lang="zh-TW" sz="2400"/>
              <a:t>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endParaRPr sz="2400" i="1"/>
          </a:p>
        </p:txBody>
      </p:sp>
      <p:sp>
        <p:nvSpPr>
          <p:cNvPr id="253" name="Google Shape;253;p45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Deep Reinforcement Learning</a:t>
            </a:r>
            <a:endParaRPr sz="3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 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54" name="Google Shape;254;p45"/>
          <p:cNvSpPr txBox="1"/>
          <p:nvPr/>
        </p:nvSpPr>
        <p:spPr>
          <a:xfrm>
            <a:off x="311700" y="5758225"/>
            <a:ext cx="71175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hlink"/>
                </a:solidFill>
                <a:hlinkClick r:id="rId3"/>
              </a:rPr>
              <a:t>https://arxiv.org/pdf/1710.02298.pdf</a:t>
            </a:r>
            <a:endParaRPr sz="1800"/>
          </a:p>
        </p:txBody>
      </p:sp>
      <p:pic>
        <p:nvPicPr>
          <p:cNvPr id="255" name="Google Shape;25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82400" y="7452550"/>
            <a:ext cx="6161601" cy="3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450" y="3924675"/>
            <a:ext cx="7117500" cy="688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8750" y="1557975"/>
            <a:ext cx="5978921" cy="6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5"/>
          <p:cNvSpPr txBox="1"/>
          <p:nvPr/>
        </p:nvSpPr>
        <p:spPr>
          <a:xfrm>
            <a:off x="5679200" y="75606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Char char="-"/>
            </a:pPr>
            <a:r>
              <a:rPr lang="zh-TW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Which is </a:t>
            </a:r>
            <a:r>
              <a:rPr lang="zh-TW" sz="2400" i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a_j’ = max_a_j’Q_</a:t>
            </a:r>
            <a:r>
              <a:rPr lang="zh-TW" sz="2400" i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ϕ</a:t>
            </a:r>
            <a:r>
              <a:rPr lang="zh-TW" sz="2400" i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(s_j’, a_j’)</a:t>
            </a:r>
            <a:r>
              <a:rPr lang="zh-TW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then </a:t>
            </a:r>
            <a:br>
              <a:rPr lang="zh-TW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zh-TW" sz="2400" i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y _j= r_j + gamma * Q_ϕ’(s_j’, a_j’)</a:t>
            </a:r>
            <a:endParaRPr sz="2400" i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Dueling Network</a:t>
            </a:r>
            <a:endParaRPr/>
          </a:p>
        </p:txBody>
      </p:sp>
      <p:sp>
        <p:nvSpPr>
          <p:cNvPr id="264" name="Google Shape;264;p46"/>
          <p:cNvSpPr txBox="1">
            <a:spLocks noGrp="1"/>
          </p:cNvSpPr>
          <p:nvPr>
            <p:ph type="body" idx="1"/>
          </p:nvPr>
        </p:nvSpPr>
        <p:spPr>
          <a:xfrm>
            <a:off x="311700" y="1688425"/>
            <a:ext cx="85206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In many state, action does not counts.</a:t>
            </a:r>
            <a:endParaRPr sz="24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DQN trys to find out the max </a:t>
            </a:r>
            <a:r>
              <a:rPr lang="zh-TW" sz="2000" i="1"/>
              <a:t>Q</a:t>
            </a:r>
            <a:r>
              <a:rPr lang="zh-TW" sz="2000"/>
              <a:t> in each state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Use same network to output </a:t>
            </a:r>
            <a:r>
              <a:rPr lang="zh-TW" sz="2400" i="1"/>
              <a:t>Value</a:t>
            </a:r>
            <a:r>
              <a:rPr lang="zh-TW" sz="2400"/>
              <a:t> and </a:t>
            </a:r>
            <a:r>
              <a:rPr lang="zh-TW" sz="2400" i="1"/>
              <a:t>Advantage</a:t>
            </a:r>
            <a:endParaRPr sz="2400" i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Why should it be the </a:t>
            </a:r>
            <a:r>
              <a:rPr lang="zh-TW" sz="2400" i="1"/>
              <a:t>Advantage</a:t>
            </a:r>
            <a:r>
              <a:rPr lang="zh-TW" sz="2400"/>
              <a:t>?</a:t>
            </a:r>
            <a:endParaRPr sz="24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Add loss constraint </a:t>
            </a:r>
            <a:endParaRPr sz="20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Alternative </a:t>
            </a:r>
            <a:r>
              <a:rPr lang="zh-TW" sz="2400" i="1"/>
              <a:t>Q</a:t>
            </a:r>
            <a:r>
              <a:rPr lang="zh-TW" sz="2400"/>
              <a:t> function, more stable (more used)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sp>
        <p:nvSpPr>
          <p:cNvPr id="265" name="Google Shape;265;p46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Deep Reinforcement Learning</a:t>
            </a:r>
            <a:endParaRPr sz="3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 </a:t>
            </a: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266" name="Google Shape;26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1200" y="2903520"/>
            <a:ext cx="3141100" cy="24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25" y="4495525"/>
            <a:ext cx="3611824" cy="8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538" y="5699924"/>
            <a:ext cx="3284490" cy="9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Prioritized Replay Memory</a:t>
            </a:r>
            <a:endParaRPr/>
          </a:p>
        </p:txBody>
      </p:sp>
      <p:sp>
        <p:nvSpPr>
          <p:cNvPr id="274" name="Google Shape;274;p47"/>
          <p:cNvSpPr txBox="1">
            <a:spLocks noGrp="1"/>
          </p:cNvSpPr>
          <p:nvPr>
            <p:ph type="body" idx="1"/>
          </p:nvPr>
        </p:nvSpPr>
        <p:spPr>
          <a:xfrm>
            <a:off x="311700" y="1688428"/>
            <a:ext cx="8520600" cy="29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DQN : Sample from replay memory uniformly</a:t>
            </a: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We can sample the replays with large loss more often</a:t>
            </a: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Thus we sample with the probability</a:t>
            </a:r>
            <a:endParaRPr sz="24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dirty="0"/>
              <a:t>TD ERROR = </a:t>
            </a:r>
            <a:endParaRPr sz="24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i="1" dirty="0"/>
              <a:t>p_t ∝ |TD ERROR|^ω</a:t>
            </a:r>
            <a:endParaRPr sz="2400" i="1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i="1" dirty="0"/>
              <a:t>ω</a:t>
            </a:r>
            <a:r>
              <a:rPr lang="zh-TW" sz="2400" dirty="0"/>
              <a:t> is a hyperprameter, 0.5 in Rainbow</a:t>
            </a:r>
            <a:endParaRPr sz="2400" dirty="0"/>
          </a:p>
        </p:txBody>
      </p:sp>
      <p:sp>
        <p:nvSpPr>
          <p:cNvPr id="275" name="Google Shape;275;p47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Deep Reinforcement Learning</a:t>
            </a:r>
            <a:endParaRPr sz="3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 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76" name="Google Shape;276;p47"/>
          <p:cNvSpPr txBox="1"/>
          <p:nvPr/>
        </p:nvSpPr>
        <p:spPr>
          <a:xfrm>
            <a:off x="311700" y="5321125"/>
            <a:ext cx="71175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hlink"/>
                </a:solidFill>
                <a:hlinkClick r:id="rId3"/>
              </a:rPr>
              <a:t>https://arxiv.org/pdf/1511.05952.pdf</a:t>
            </a:r>
            <a:endParaRPr sz="1800"/>
          </a:p>
        </p:txBody>
      </p:sp>
      <p:pic>
        <p:nvPicPr>
          <p:cNvPr id="277" name="Google Shape;27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0775" y="4258523"/>
            <a:ext cx="6772418" cy="7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7"/>
          <p:cNvPicPr preferRelativeResize="0"/>
          <p:nvPr/>
        </p:nvPicPr>
        <p:blipFill rotWithShape="1">
          <a:blip r:embed="rId5">
            <a:alphaModFix/>
          </a:blip>
          <a:srcRect l="9255" t="24006"/>
          <a:stretch/>
        </p:blipFill>
        <p:spPr>
          <a:xfrm>
            <a:off x="3113400" y="3052257"/>
            <a:ext cx="6018875" cy="40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Prioritized Replay Memory</a:t>
            </a:r>
            <a:endParaRPr/>
          </a:p>
        </p:txBody>
      </p:sp>
      <p:sp>
        <p:nvSpPr>
          <p:cNvPr id="284" name="Google Shape;284;p48"/>
          <p:cNvSpPr txBox="1">
            <a:spLocks noGrp="1"/>
          </p:cNvSpPr>
          <p:nvPr>
            <p:ph type="body" idx="1"/>
          </p:nvPr>
        </p:nvSpPr>
        <p:spPr>
          <a:xfrm>
            <a:off x="311700" y="1688424"/>
            <a:ext cx="8520600" cy="3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Char char="-"/>
            </a:pPr>
            <a:r>
              <a:rPr lang="zh-TW" sz="2400"/>
              <a:t>However, the resulting gradient estimator is biased, since we are sampling from a different distribution</a:t>
            </a:r>
            <a:endParaRPr sz="24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Correct by inportance sampling weights</a:t>
            </a:r>
            <a:endParaRPr sz="20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With </a:t>
            </a:r>
            <a:r>
              <a:rPr lang="zh-TW" sz="2400" i="1"/>
              <a:t>ρ_i = 1 / P(i)</a:t>
            </a:r>
            <a:r>
              <a:rPr lang="zh-TW" sz="2400"/>
              <a:t>, the IS weights</a:t>
            </a:r>
            <a:endParaRPr sz="240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400" i="1"/>
          </a:p>
          <a:p>
            <a:pPr marL="457200" marR="0" lvl="0" indent="-3810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Char char="-"/>
            </a:pPr>
            <a:r>
              <a:rPr lang="zh-TW" sz="2400" i="1"/>
              <a:t>β</a:t>
            </a:r>
            <a:r>
              <a:rPr lang="zh-TW" sz="2400"/>
              <a:t> is linearly declined to 1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 i="1"/>
              <a:t>β = 1 </a:t>
            </a:r>
            <a:r>
              <a:rPr lang="zh-TW" sz="2400"/>
              <a:t>→ Unbiased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Try to learn quicker → Try to converge correctly</a:t>
            </a:r>
            <a:endParaRPr sz="2400"/>
          </a:p>
        </p:txBody>
      </p:sp>
      <p:sp>
        <p:nvSpPr>
          <p:cNvPr id="285" name="Google Shape;285;p48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Deep Reinforcement Learning</a:t>
            </a:r>
            <a:endParaRPr sz="3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 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86" name="Google Shape;286;p48"/>
          <p:cNvSpPr txBox="1"/>
          <p:nvPr/>
        </p:nvSpPr>
        <p:spPr>
          <a:xfrm>
            <a:off x="311700" y="5784875"/>
            <a:ext cx="71175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hlink"/>
                </a:solidFill>
                <a:hlinkClick r:id="rId3"/>
              </a:rPr>
              <a:t>https://arxiv.org/pdf/1511.05952.pdf</a:t>
            </a:r>
            <a:endParaRPr sz="1800"/>
          </a:p>
        </p:txBody>
      </p:sp>
      <p:pic>
        <p:nvPicPr>
          <p:cNvPr id="287" name="Google Shape;28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8763" y="2526563"/>
            <a:ext cx="22383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7113" y="3325050"/>
            <a:ext cx="214312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Prioritized Replay Memory</a:t>
            </a:r>
            <a:endParaRPr/>
          </a:p>
        </p:txBody>
      </p:sp>
      <p:sp>
        <p:nvSpPr>
          <p:cNvPr id="294" name="Google Shape;294;p49"/>
          <p:cNvSpPr txBox="1">
            <a:spLocks noGrp="1"/>
          </p:cNvSpPr>
          <p:nvPr>
            <p:ph type="body" idx="1"/>
          </p:nvPr>
        </p:nvSpPr>
        <p:spPr>
          <a:xfrm>
            <a:off x="311700" y="1688425"/>
            <a:ext cx="8520600" cy="43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Char char="-"/>
            </a:pPr>
            <a:r>
              <a:rPr lang="zh-TW" sz="2400"/>
              <a:t>Using array, the complexity of sampling is </a:t>
            </a:r>
            <a:r>
              <a:rPr lang="zh-TW" sz="2400" i="1"/>
              <a:t>O(n)</a:t>
            </a:r>
            <a:endParaRPr sz="2400" i="1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Try another data structure</a:t>
            </a:r>
            <a:endParaRPr sz="20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zh-TW" sz="2400"/>
              <a:t>Sum Tree, which prioiritized sampling can be </a:t>
            </a:r>
            <a:r>
              <a:rPr lang="zh-TW" sz="2400" i="1"/>
              <a:t>O(lgn)</a:t>
            </a:r>
            <a:endParaRPr sz="2400" i="1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Devide the priorities into k groups(batch size) by the max priority</a:t>
            </a:r>
            <a:endParaRPr sz="20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That is if the max is 42, batch size = 6, we devide them into [1, 7], [8, 14], …., [36, 42]</a:t>
            </a:r>
            <a:endParaRPr sz="20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Randomly sample a number from</a:t>
            </a:r>
            <a:br>
              <a:rPr lang="zh-TW" sz="2000"/>
            </a:br>
            <a:r>
              <a:rPr lang="zh-TW" sz="2000"/>
              <a:t>each interval</a:t>
            </a:r>
            <a:endParaRPr sz="20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zh-TW" sz="2000"/>
              <a:t>Go down the sum tree by </a:t>
            </a:r>
            <a:br>
              <a:rPr lang="zh-TW" sz="2000"/>
            </a:br>
            <a:r>
              <a:rPr lang="zh-TW" sz="2000"/>
              <a:t>the priority to retrieve</a:t>
            </a:r>
            <a:br>
              <a:rPr lang="zh-TW" sz="2000"/>
            </a:br>
            <a:r>
              <a:rPr lang="zh-TW" sz="2000"/>
              <a:t>the data at the leaf</a:t>
            </a:r>
            <a:endParaRPr sz="2000"/>
          </a:p>
        </p:txBody>
      </p:sp>
      <p:sp>
        <p:nvSpPr>
          <p:cNvPr id="295" name="Google Shape;295;p49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Deep Reinforcement Learning</a:t>
            </a:r>
            <a:endParaRPr sz="3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 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296" name="Google Shape;296;p49"/>
          <p:cNvSpPr txBox="1"/>
          <p:nvPr/>
        </p:nvSpPr>
        <p:spPr>
          <a:xfrm>
            <a:off x="311700" y="6287225"/>
            <a:ext cx="71169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hlink"/>
                </a:solidFill>
                <a:hlinkClick r:id="rId3"/>
              </a:rPr>
              <a:t>https://arxiv.org/pdf/1511.05952.pdf</a:t>
            </a:r>
            <a:endParaRPr sz="1800"/>
          </a:p>
        </p:txBody>
      </p:sp>
      <p:pic>
        <p:nvPicPr>
          <p:cNvPr id="297" name="Google Shape;29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2325" y="4159647"/>
            <a:ext cx="4817125" cy="24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Prioritized Replay Memory</a:t>
            </a:r>
            <a:endParaRPr/>
          </a:p>
        </p:txBody>
      </p:sp>
      <p:sp>
        <p:nvSpPr>
          <p:cNvPr id="303" name="Google Shape;303;p50"/>
          <p:cNvSpPr txBox="1"/>
          <p:nvPr/>
        </p:nvSpPr>
        <p:spPr>
          <a:xfrm>
            <a:off x="-11725" y="3125"/>
            <a:ext cx="9144000" cy="6837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chemeClr val="lt1"/>
                </a:solidFill>
              </a:rPr>
              <a:t>Deep Reinforcement Learning</a:t>
            </a:r>
            <a:endParaRPr sz="30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>
                <a:solidFill>
                  <a:srgbClr val="FFFFFF"/>
                </a:solidFill>
              </a:rPr>
              <a:t> </a:t>
            </a: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304" name="Google Shape;30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96175"/>
            <a:ext cx="8618350" cy="507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847</Words>
  <Application>Microsoft Macintosh PowerPoint</Application>
  <PresentationFormat>On-screen Show (4:3)</PresentationFormat>
  <Paragraphs>165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Libre Baskerville</vt:lpstr>
      <vt:lpstr>Noto Symbol</vt:lpstr>
      <vt:lpstr>Open Sans</vt:lpstr>
      <vt:lpstr>PT Sans Narrow</vt:lpstr>
      <vt:lpstr>Source Sans Pro</vt:lpstr>
      <vt:lpstr>Arial</vt:lpstr>
      <vt:lpstr>Simple Light</vt:lpstr>
      <vt:lpstr>Tropic</vt:lpstr>
      <vt:lpstr>MLDS 2018 Fall HW4-2 - Deep Q Learning</vt:lpstr>
      <vt:lpstr>Outline</vt:lpstr>
      <vt:lpstr>Environment</vt:lpstr>
      <vt:lpstr>Deep Q-Learning (DQN) </vt:lpstr>
      <vt:lpstr>Deep Q-Learning (DQN) </vt:lpstr>
      <vt:lpstr>Improvements to DQN</vt:lpstr>
      <vt:lpstr>Training Plot</vt:lpstr>
      <vt:lpstr>Why Reward is clipped</vt:lpstr>
      <vt:lpstr>Asynchronous Update (Optional)</vt:lpstr>
      <vt:lpstr>Grading Policy</vt:lpstr>
      <vt:lpstr>Baseline</vt:lpstr>
      <vt:lpstr>Report</vt:lpstr>
      <vt:lpstr>PowerPoint Presentation</vt:lpstr>
      <vt:lpstr>Double DQN</vt:lpstr>
      <vt:lpstr>Dueling Network</vt:lpstr>
      <vt:lpstr>Prioritized Replay Memory</vt:lpstr>
      <vt:lpstr>Prioritized Replay Memory</vt:lpstr>
      <vt:lpstr>Prioritized Replay Memory</vt:lpstr>
      <vt:lpstr>Prioritized Replay Memory</vt:lpstr>
    </vt:vector>
  </TitlesOfParts>
  <LinksUpToDate>false</LinksUpToDate>
  <SharedDoc>false</SharedDoc>
  <HyperlinksChanged>false</HyperlinksChanged>
  <AppVersion>15.0023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MLDS 2018 Spring HW4-2 - Deep Q Learning</dc:title>
  <cp:lastModifiedBy>Microsoft Office User</cp:lastModifiedBy>
  <cp:revision>9</cp:revision>
  <dcterms:modified xsi:type="dcterms:W3CDTF">2018-12-21T07:01:23Z</dcterms:modified>
</cp:coreProperties>
</file>