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15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64"/>
  </p:normalViewPr>
  <p:slideViewPr>
    <p:cSldViewPr snapToGrid="0" snapToObjects="1">
      <p:cViewPr varScale="1">
        <p:scale>
          <a:sx n="94" d="100"/>
          <a:sy n="94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88300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10edee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10edee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149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910edee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910edee9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556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910edee9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910edee9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121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10edee9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10edee9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 smtClean="0"/>
              <a:t>單步更新  回合更新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5040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910edee9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910edee9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Ddpg</a:t>
            </a:r>
            <a:r>
              <a:rPr lang="en-US" dirty="0" smtClean="0"/>
              <a:t>=</a:t>
            </a:r>
            <a:r>
              <a:rPr lang="en-US" dirty="0" err="1" smtClean="0"/>
              <a:t>ac+dqn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182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57733a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57733a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03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598823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598823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155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ec4743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ec4743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0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ec47435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ec47435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457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10edee9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910edee9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262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616909e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616909e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544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08a8f4f4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08a8f4f4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1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●"/>
              <a:defRPr/>
            </a:lvl1pPr>
            <a:lvl2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●"/>
              <a:defRPr/>
            </a:lvl2pPr>
            <a:lvl3pPr marL="1371600" lvl="2" indent="-317500" algn="l" rtl="0">
              <a:spcBef>
                <a:spcPts val="1600"/>
              </a:spcBef>
              <a:spcAft>
                <a:spcPts val="0"/>
              </a:spcAft>
              <a:buClr>
                <a:srgbClr val="F0C1B0"/>
              </a:buClr>
              <a:buSzPts val="1400"/>
              <a:buFont typeface="Noto Symbol"/>
              <a:buChar char="●"/>
              <a:defRPr/>
            </a:lvl3pPr>
            <a:lvl4pPr marL="1828800" lvl="3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ymbol"/>
              <a:buChar char="●"/>
              <a:defRPr/>
            </a:lvl4pPr>
            <a:lvl5pPr marL="2286000" lvl="4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o"/>
              <a:defRPr/>
            </a:lvl5pPr>
            <a:lvl6pPr marL="2743200" lvl="5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•"/>
              <a:defRPr/>
            </a:lvl6pPr>
            <a:lvl7pPr marL="3200400" lvl="6" indent="-3175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ibre Baskerville"/>
              <a:buChar char="•"/>
              <a:defRPr/>
            </a:lvl7pPr>
            <a:lvl8pPr marL="3657600" lvl="7" indent="-317500" algn="l" rtl="0">
              <a:spcBef>
                <a:spcPts val="1600"/>
              </a:spcBef>
              <a:spcAft>
                <a:spcPts val="0"/>
              </a:spcAft>
              <a:buClr>
                <a:srgbClr val="F0C1B0"/>
              </a:buClr>
              <a:buSzPts val="1400"/>
              <a:buFont typeface="Libre Baskerville"/>
              <a:buChar char="•"/>
              <a:defRPr/>
            </a:lvl8pPr>
            <a:lvl9pPr marL="4114800" lvl="8" indent="-317500" algn="l" rtl="0">
              <a:spcBef>
                <a:spcPts val="1600"/>
              </a:spcBef>
              <a:spcAft>
                <a:spcPts val="1600"/>
              </a:spcAft>
              <a:buClr>
                <a:srgbClr val="DDB8B3"/>
              </a:buClr>
              <a:buSzPts val="1400"/>
              <a:buFont typeface="Libre Baskerville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../media/image2.gif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9.02971" TargetMode="External"/><Relationship Id="rId4" Type="http://schemas.openxmlformats.org/officeDocument/2006/relationships/hyperlink" Target="https://arxiv.org/pdf/1611.01224.pdf" TargetMode="External"/><Relationship Id="rId5" Type="http://schemas.openxmlformats.org/officeDocument/2006/relationships/hyperlink" Target="https://arxiv.org/abs/1602.01783" TargetMode="External"/><Relationship Id="rId6" Type="http://schemas.openxmlformats.org/officeDocument/2006/relationships/hyperlink" Target="https://arxiv.org/abs/1708.05144" TargetMode="External"/><Relationship Id="rId7" Type="http://schemas.openxmlformats.org/officeDocument/2006/relationships/hyperlink" Target="https://arxiv.org/abs/1707.06347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rll.berkeley.edu/deeprlcourse/#lecture-videos" TargetMode="External"/><Relationship Id="rId4" Type="http://schemas.openxmlformats.org/officeDocument/2006/relationships/hyperlink" Target="http://www0.cs.ucl.ac.uk/staff/d.silver/web/Teaching.html" TargetMode="External"/><Relationship Id="rId5" Type="http://schemas.openxmlformats.org/officeDocument/2006/relationships/hyperlink" Target="https://goo.gl/v5ig6e" TargetMode="External"/><Relationship Id="rId6" Type="http://schemas.openxmlformats.org/officeDocument/2006/relationships/hyperlink" Target="http://karpathy.github.io/2016/05/31/rl/" TargetMode="External"/><Relationship Id="rId7" Type="http://schemas.openxmlformats.org/officeDocument/2006/relationships/hyperlink" Target="https://goo.gl/o3C8fF" TargetMode="External"/><Relationship Id="rId8" Type="http://schemas.openxmlformats.org/officeDocument/2006/relationships/hyperlink" Target="http://incompleteideas.net/sutton/book/the-book-2nd.html" TargetMode="External"/><Relationship Id="rId9" Type="http://schemas.openxmlformats.org/officeDocument/2006/relationships/hyperlink" Target="https://github.com/williamFalcon/DeepRLHacks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MLDS 2018 </a:t>
            </a:r>
            <a:r>
              <a:rPr lang="en-US" altLang="zh-TW" smtClean="0"/>
              <a:t>Fall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HW4-3 - Actor-Critic</a:t>
            </a:r>
            <a:endParaRPr dirty="0"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1"/>
          </p:nvPr>
        </p:nvSpPr>
        <p:spPr>
          <a:xfrm>
            <a:off x="311700" y="3778819"/>
            <a:ext cx="8520600" cy="17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2018</a:t>
            </a:r>
            <a:r>
              <a:rPr lang="zh-TW" dirty="0" smtClean="0"/>
              <a:t>/</a:t>
            </a:r>
            <a:r>
              <a:rPr lang="en-US" altLang="zh-TW" dirty="0" smtClean="0"/>
              <a:t>12</a:t>
            </a:r>
            <a:r>
              <a:rPr lang="zh-TW" dirty="0" smtClean="0"/>
              <a:t>/</a:t>
            </a:r>
            <a:r>
              <a:rPr lang="en-US" altLang="zh-TW" dirty="0" smtClean="0"/>
              <a:t>21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 err="1" smtClean="0"/>
              <a:t>adlxmlds</a:t>
            </a:r>
            <a:r>
              <a:rPr lang="zh-TW" dirty="0" smtClean="0"/>
              <a:t>@</a:t>
            </a:r>
            <a:r>
              <a:rPr lang="zh-TW" dirty="0"/>
              <a:t>gmail.com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body" idx="1"/>
          </p:nvPr>
        </p:nvSpPr>
        <p:spPr>
          <a:xfrm>
            <a:off x="311700" y="1383633"/>
            <a:ext cx="8520600" cy="5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>
                <a:solidFill>
                  <a:srgbClr val="000000"/>
                </a:solidFill>
              </a:rPr>
              <a:t>Environment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>
                <a:solidFill>
                  <a:srgbClr val="000000"/>
                </a:solidFill>
              </a:rPr>
              <a:t>Actor-Critic</a:t>
            </a:r>
            <a:endParaRPr sz="2000">
              <a:solidFill>
                <a:srgbClr val="000000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>
                <a:solidFill>
                  <a:srgbClr val="000000"/>
                </a:solidFill>
              </a:rPr>
              <a:t>Grading &amp; Format</a:t>
            </a:r>
            <a:endParaRPr sz="24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Grading Policy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Code Format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Report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Submission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Outline</a:t>
            </a: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Environment</a:t>
            </a:r>
            <a:endParaRPr/>
          </a:p>
        </p:txBody>
      </p:sp>
      <p:sp>
        <p:nvSpPr>
          <p:cNvPr id="143" name="Google Shape;143;p30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Introduction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44" name="Google Shape;1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66" y="2143028"/>
            <a:ext cx="3499475" cy="41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0"/>
          <p:cNvSpPr txBox="1"/>
          <p:nvPr/>
        </p:nvSpPr>
        <p:spPr>
          <a:xfrm>
            <a:off x="898625" y="1473850"/>
            <a:ext cx="24465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Breakout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30"/>
          <p:cNvSpPr txBox="1"/>
          <p:nvPr/>
        </p:nvSpPr>
        <p:spPr>
          <a:xfrm>
            <a:off x="5772965" y="1473850"/>
            <a:ext cx="15927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695D46"/>
                </a:solidFill>
              </a:rPr>
              <a:t>Pong</a:t>
            </a:r>
            <a:endParaRPr sz="2400">
              <a:solidFill>
                <a:srgbClr val="695D46"/>
              </a:solidFill>
            </a:endParaRPr>
          </a:p>
        </p:txBody>
      </p:sp>
      <p:pic>
        <p:nvPicPr>
          <p:cNvPr id="147" name="Google Shape;14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050" y="2281325"/>
            <a:ext cx="36385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Actor Critic </a:t>
            </a:r>
            <a:endParaRPr/>
          </a:p>
        </p:txBody>
      </p:sp>
      <p:sp>
        <p:nvSpPr>
          <p:cNvPr id="153" name="Google Shape;153;p31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54" name="Google Shape;154;p31"/>
          <p:cNvPicPr preferRelativeResize="0"/>
          <p:nvPr/>
        </p:nvPicPr>
        <p:blipFill rotWithShape="1">
          <a:blip r:embed="rId3">
            <a:alphaModFix/>
          </a:blip>
          <a:srcRect l="901" t="2257"/>
          <a:stretch/>
        </p:blipFill>
        <p:spPr>
          <a:xfrm>
            <a:off x="192050" y="1865313"/>
            <a:ext cx="8759899" cy="318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Improvements to Actor-Critic</a:t>
            </a:r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body" idx="1"/>
          </p:nvPr>
        </p:nvSpPr>
        <p:spPr>
          <a:xfrm>
            <a:off x="311700" y="1688428"/>
            <a:ext cx="8520600" cy="29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DDPG : </a:t>
            </a:r>
            <a:r>
              <a:rPr lang="zh-TW" sz="2400" u="sng" dirty="0">
                <a:solidFill>
                  <a:schemeClr val="hlink"/>
                </a:solidFill>
                <a:hlinkClick r:id="rId3"/>
              </a:rPr>
              <a:t>https://arxiv.org/abs/1509.02971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ACER : </a:t>
            </a:r>
            <a:r>
              <a:rPr lang="zh-TW" sz="2400" u="sng" dirty="0">
                <a:solidFill>
                  <a:schemeClr val="hlink"/>
                </a:solidFill>
                <a:hlinkClick r:id="rId4"/>
              </a:rPr>
              <a:t>https://arxiv.org/pdf/1611.01224.pdf</a:t>
            </a:r>
            <a:endParaRPr sz="2400" dirty="0">
              <a:solidFill>
                <a:srgbClr val="695D4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A3C : </a:t>
            </a:r>
            <a:r>
              <a:rPr lang="zh-TW" sz="2400" u="sng" dirty="0">
                <a:solidFill>
                  <a:schemeClr val="hlink"/>
                </a:solidFill>
                <a:hlinkClick r:id="rId5"/>
              </a:rPr>
              <a:t>https://arxiv.org/abs/1602.01783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A2C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ACKTR : </a:t>
            </a:r>
            <a:r>
              <a:rPr lang="zh-TW" sz="2400" u="sng" dirty="0">
                <a:solidFill>
                  <a:schemeClr val="hlink"/>
                </a:solidFill>
                <a:hlinkClick r:id="rId6"/>
              </a:rPr>
              <a:t>https://arxiv.org/abs/</a:t>
            </a:r>
            <a:r>
              <a:rPr lang="zh-TW" sz="2400" u="sng" dirty="0" smtClean="0">
                <a:solidFill>
                  <a:schemeClr val="hlink"/>
                </a:solidFill>
                <a:hlinkClick r:id="rId6"/>
              </a:rPr>
              <a:t>1708.05144</a:t>
            </a:r>
            <a:endParaRPr lang="en-US" altLang="zh-TW" sz="2400" u="sng" dirty="0" smtClean="0">
              <a:solidFill>
                <a:schemeClr val="hlink"/>
              </a:solidFill>
            </a:endParaRPr>
          </a:p>
          <a:p>
            <a:pPr lvl="0" indent="-381000">
              <a:buSzPts val="2400"/>
              <a:buChar char="-"/>
            </a:pPr>
            <a:r>
              <a:rPr lang="en-US" sz="2400" dirty="0" smtClean="0"/>
              <a:t>PPO</a:t>
            </a:r>
            <a:r>
              <a:rPr lang="zh-TW" altLang="en-US" sz="2400" dirty="0" smtClean="0"/>
              <a:t>：</a:t>
            </a:r>
            <a:r>
              <a:rPr lang="mr-IN" altLang="zh-TW" sz="2400" dirty="0">
                <a:hlinkClick r:id="rId7"/>
              </a:rPr>
              <a:t>https://</a:t>
            </a:r>
            <a:r>
              <a:rPr lang="mr-IN" altLang="zh-TW" sz="2400" dirty="0" smtClean="0">
                <a:hlinkClick r:id="rId7"/>
              </a:rPr>
              <a:t>arxiv.org/abs/1707.06347</a:t>
            </a:r>
            <a:endParaRPr lang="en-US" altLang="zh-TW" sz="2400" dirty="0" smtClean="0"/>
          </a:p>
        </p:txBody>
      </p:sp>
      <p:sp>
        <p:nvSpPr>
          <p:cNvPr id="161" name="Google Shape;161;p32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>
            <a:spLocks noGrp="1"/>
          </p:cNvSpPr>
          <p:nvPr>
            <p:ph type="title"/>
          </p:nvPr>
        </p:nvSpPr>
        <p:spPr>
          <a:xfrm>
            <a:off x="311700" y="593375"/>
            <a:ext cx="87135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 Efficeint Actor-critic with Experience Replay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(ACER)</a:t>
            </a:r>
            <a:endParaRPr/>
          </a:p>
        </p:txBody>
      </p:sp>
      <p:sp>
        <p:nvSpPr>
          <p:cNvPr id="167" name="Google Shape;167;p33"/>
          <p:cNvSpPr txBox="1">
            <a:spLocks noGrp="1"/>
          </p:cNvSpPr>
          <p:nvPr>
            <p:ph type="body" idx="1"/>
          </p:nvPr>
        </p:nvSpPr>
        <p:spPr>
          <a:xfrm>
            <a:off x="311700" y="1795425"/>
            <a:ext cx="8520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Off policy → sample efficient, experience replay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How? → By importance sampling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Problem : High variance cause by </a:t>
            </a:r>
            <a:r>
              <a:rPr lang="zh-TW" sz="2400" i="1"/>
              <a:t>ρ_t</a:t>
            </a:r>
            <a:endParaRPr sz="2400" i="1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Use clipping → trade bias for variance</a:t>
            </a:r>
            <a:endParaRPr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To correct bias, add a correction term</a:t>
            </a:r>
            <a:endParaRPr sz="2400"/>
          </a:p>
        </p:txBody>
      </p:sp>
      <p:sp>
        <p:nvSpPr>
          <p:cNvPr id="168" name="Google Shape;168;p33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500" y="2881475"/>
            <a:ext cx="51911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525" y="2891000"/>
            <a:ext cx="13335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7525" y="3906900"/>
            <a:ext cx="17335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263" y="4737800"/>
            <a:ext cx="87534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2488" y="6091575"/>
            <a:ext cx="39719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title"/>
          </p:nvPr>
        </p:nvSpPr>
        <p:spPr>
          <a:xfrm>
            <a:off x="311700" y="593375"/>
            <a:ext cx="87135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 Efficeint Actor-critic with Experience Replay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(ACER)</a:t>
            </a:r>
            <a:endParaRPr/>
          </a:p>
        </p:txBody>
      </p:sp>
      <p:sp>
        <p:nvSpPr>
          <p:cNvPr id="179" name="Google Shape;179;p34"/>
          <p:cNvSpPr txBox="1">
            <a:spLocks noGrp="1"/>
          </p:cNvSpPr>
          <p:nvPr>
            <p:ph type="body" idx="1"/>
          </p:nvPr>
        </p:nvSpPr>
        <p:spPr>
          <a:xfrm>
            <a:off x="311700" y="1795425"/>
            <a:ext cx="8520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How to evaluate Q^π under samples from μ?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Use Retrace Estimator</a:t>
            </a:r>
            <a:br>
              <a:rPr lang="zh-TW" sz="2400"/>
            </a:b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And loss gradient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2400"/>
              <a:t>Reduce variance by value function baseline yields</a:t>
            </a:r>
            <a:endParaRPr sz="2400"/>
          </a:p>
        </p:txBody>
      </p:sp>
      <p:sp>
        <p:nvSpPr>
          <p:cNvPr id="180" name="Google Shape;180;p34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81" name="Google Shape;1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450" y="2686025"/>
            <a:ext cx="7869850" cy="4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150" y="3566150"/>
            <a:ext cx="4981584" cy="4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163" y="4090775"/>
            <a:ext cx="8820576" cy="83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4700" y="5446899"/>
            <a:ext cx="6827525" cy="12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Algorithm (ACER)</a:t>
            </a:r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91" name="Google Shape;1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63" y="1352550"/>
            <a:ext cx="867727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Algorithm (ACER)</a:t>
            </a:r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98" name="Google Shape;1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393875"/>
            <a:ext cx="4983888" cy="53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04" name="Google Shape;204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Grading Policy</a:t>
            </a:r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5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zh-TW" sz="2400" dirty="0" smtClean="0"/>
              <a:t>Report</a:t>
            </a: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11" name="Google Shape;211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Report (6%)</a:t>
            </a:r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body" idx="1"/>
          </p:nvPr>
        </p:nvSpPr>
        <p:spPr>
          <a:xfrm>
            <a:off x="311700" y="1363575"/>
            <a:ext cx="8520600" cy="53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dirty="0"/>
          </a:p>
          <a:p>
            <a:pPr marL="457200" marR="0" lvl="0" indent="-3810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Up to </a:t>
            </a:r>
            <a:r>
              <a:rPr lang="zh-TW" sz="2400" dirty="0">
                <a:solidFill>
                  <a:srgbClr val="FF0000"/>
                </a:solidFill>
              </a:rPr>
              <a:t>6</a:t>
            </a:r>
            <a:r>
              <a:rPr lang="zh-TW" sz="2400" dirty="0"/>
              <a:t> pages (4-1 + 4-2 + 4-3), in </a:t>
            </a:r>
            <a:r>
              <a:rPr lang="zh-TW" sz="2400" dirty="0">
                <a:solidFill>
                  <a:srgbClr val="FF0000"/>
                </a:solidFill>
              </a:rPr>
              <a:t>Chinese</a:t>
            </a:r>
            <a:endParaRPr sz="2400" dirty="0">
              <a:solidFill>
                <a:srgbClr val="FF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Describe your actor-critic model on Pong </a:t>
            </a:r>
            <a:r>
              <a:rPr lang="zh-TW" sz="2000" dirty="0">
                <a:solidFill>
                  <a:srgbClr val="FF0000"/>
                </a:solidFill>
              </a:rPr>
              <a:t>and</a:t>
            </a:r>
            <a:r>
              <a:rPr lang="zh-TW" sz="2000" dirty="0"/>
              <a:t> Breakout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Plot the learning curve and compare with 4-1 and 4-2 to show the performance of your actor-critic model on Pong &amp; </a:t>
            </a:r>
            <a:r>
              <a:rPr lang="zh-TW" sz="2000" dirty="0" smtClean="0"/>
              <a:t>Breakout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X-axis: number of time steps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Y-axis: average reward in last 100 episodes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Reproduce </a:t>
            </a:r>
            <a:r>
              <a:rPr lang="zh-TW" sz="2000" dirty="0">
                <a:solidFill>
                  <a:srgbClr val="FF0000"/>
                </a:solidFill>
              </a:rPr>
              <a:t>1</a:t>
            </a:r>
            <a:r>
              <a:rPr lang="zh-TW" sz="2000" dirty="0"/>
              <a:t> improvement method of actor-critic (</a:t>
            </a:r>
            <a:r>
              <a:rPr lang="zh-TW" sz="2000" dirty="0">
                <a:solidFill>
                  <a:srgbClr val="FF0000"/>
                </a:solidFill>
              </a:rPr>
              <a:t>Allow any resource</a:t>
            </a:r>
            <a:r>
              <a:rPr lang="zh-TW" sz="2000" dirty="0"/>
              <a:t>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Describe the </a:t>
            </a:r>
            <a:r>
              <a:rPr lang="zh-TW" sz="2000" dirty="0" smtClean="0"/>
              <a:t>method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Plot the learning curve and compare with 4-1 and 4-2, 4-3 to show the performance of your </a:t>
            </a:r>
            <a:r>
              <a:rPr lang="zh-TW" sz="2000" dirty="0" smtClean="0"/>
              <a:t>improvement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Related Materials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8323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-"/>
            </a:pPr>
            <a:r>
              <a:rPr lang="zh-TW" sz="2400"/>
              <a:t>Course &amp; Tutorial:</a:t>
            </a:r>
            <a:endParaRPr sz="240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Berkeley Deep Reinforcement Learning, Fall 2017</a:t>
            </a:r>
            <a:endParaRPr sz="1800">
              <a:solidFill>
                <a:srgbClr val="000000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4"/>
              </a:rPr>
              <a:t>David Silver RL course</a:t>
            </a:r>
            <a:endParaRPr sz="1800">
              <a:solidFill>
                <a:srgbClr val="000000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5"/>
              </a:rPr>
              <a:t>Nips 2016 RL tutorial</a:t>
            </a:r>
            <a:endParaRPr sz="1800">
              <a:solidFill>
                <a:srgbClr val="000000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/>
              <a:t>Blog:</a:t>
            </a:r>
            <a:endParaRPr sz="24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 u="sng">
                <a:solidFill>
                  <a:schemeClr val="hlink"/>
                </a:solidFill>
                <a:hlinkClick r:id="rId6"/>
              </a:rPr>
              <a:t>Andrej Karpathy’s blog</a:t>
            </a:r>
            <a:endParaRPr sz="2000" u="sng">
              <a:solidFill>
                <a:schemeClr val="hlink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 u="sng">
                <a:solidFill>
                  <a:schemeClr val="hlink"/>
                </a:solidFill>
                <a:hlinkClick r:id="rId7"/>
              </a:rPr>
              <a:t>Arthur Juliani’s Blog</a:t>
            </a:r>
            <a:endParaRPr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Text Book: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u="sng">
                <a:solidFill>
                  <a:schemeClr val="accent5"/>
                </a:solidFill>
                <a:hlinkClick r:id="rId8"/>
              </a:rPr>
              <a:t>Reinforcement Learning: An Introduction</a:t>
            </a:r>
            <a:endParaRPr sz="2000" u="sng">
              <a:solidFill>
                <a:schemeClr val="accent5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Repo: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u="sng">
                <a:solidFill>
                  <a:schemeClr val="accent5"/>
                </a:solidFill>
                <a:hlinkClick r:id="rId9"/>
              </a:rPr>
              <a:t>https://github.com/williamFalcon/DeepRLHacks</a:t>
            </a:r>
            <a:endParaRPr sz="2000" u="sng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377</Words>
  <Application>Microsoft Macintosh PowerPoint</Application>
  <PresentationFormat>On-screen Show (4:3)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Source Sans Pro</vt:lpstr>
      <vt:lpstr>Noto Symbol</vt:lpstr>
      <vt:lpstr>Libre Baskerville</vt:lpstr>
      <vt:lpstr>Arial</vt:lpstr>
      <vt:lpstr>PT Sans Narrow</vt:lpstr>
      <vt:lpstr>Open Sans</vt:lpstr>
      <vt:lpstr>Simple Light</vt:lpstr>
      <vt:lpstr>Tropic</vt:lpstr>
      <vt:lpstr>MLDS 2018 Fall HW4-3 - Actor-Critic</vt:lpstr>
      <vt:lpstr>Outline</vt:lpstr>
      <vt:lpstr>Environment</vt:lpstr>
      <vt:lpstr>Actor Critic </vt:lpstr>
      <vt:lpstr>Improvements to Actor-Critic</vt:lpstr>
      <vt:lpstr>Sample Efficeint Actor-critic with Experience Replay (ACER)</vt:lpstr>
      <vt:lpstr>Sample Efficeint Actor-critic with Experience Replay (ACER)</vt:lpstr>
      <vt:lpstr>Algorithm (ACER)</vt:lpstr>
      <vt:lpstr>Algorithm (ACER)</vt:lpstr>
      <vt:lpstr>Grading Policy</vt:lpstr>
      <vt:lpstr>Report (6%)</vt:lpstr>
      <vt:lpstr>PowerPoint Presentation</vt:lpstr>
    </vt:vector>
  </TitlesOfParts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MLDS 2018 Spring HW4-3 - Actor-Critic</dc:title>
  <cp:lastModifiedBy>Microsoft Office User</cp:lastModifiedBy>
  <cp:revision>6</cp:revision>
  <dcterms:modified xsi:type="dcterms:W3CDTF">2018-12-21T07:01:10Z</dcterms:modified>
</cp:coreProperties>
</file>