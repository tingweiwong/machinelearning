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8" r:id="rId21"/>
    <p:sldId id="275" r:id="rId22"/>
    <p:sldId id="276" r:id="rId23"/>
    <p:sldId id="277" r:id="rId2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89243"/>
  </p:normalViewPr>
  <p:slideViewPr>
    <p:cSldViewPr snapToGrid="0" snapToObjects="1">
      <p:cViewPr varScale="1">
        <p:scale>
          <a:sx n="96" d="100"/>
          <a:sy n="96" d="100"/>
        </p:scale>
        <p:origin x="9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85296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10edee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10edee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03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ff6f458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ff6f458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5269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10edee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10edee9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362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910edee9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910edee9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8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10edee9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910edee9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269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10edee95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10edee95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add notation (Done)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6342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b08a8f4f4_5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b08a8f4f4_5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2944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616909e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616909e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give explanation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1430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ecf22f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ecf22f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which is better give graph example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explain rgb and give graph example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ok ok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5531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ff6f458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ff6f458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add diff graph!!!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5656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870303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870303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944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ecf22f1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ecf22f1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show the reward normalized graph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give option for discounted reward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ok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add diff graph …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1038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ff6f458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ff6f458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5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d6b53b4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d6b53b4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freeze seed is important ! ok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6853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910edee9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910edee9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11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0ed68e1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b0ed68e1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 ok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4859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8616909e0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8616909e0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673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8616909e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8616909e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all for six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one extra method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ok ok ok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0917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8616909e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8616909e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30932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8616909e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8616909e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995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8616909e0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8616909e0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 keras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On ubuntu plz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1499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b08a8f4f4_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b08a8f4f4_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3803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4235850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421100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362666"/>
            <a:ext cx="7136668" cy="203195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5292001"/>
            <a:ext cx="7136668" cy="203195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3429200"/>
            <a:ext cx="9144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1086400"/>
            <a:ext cx="8571300" cy="12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311700" y="1688233"/>
            <a:ext cx="39999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832400" y="1688233"/>
            <a:ext cx="39999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136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265500" y="1386233"/>
            <a:ext cx="40452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ubTitle" idx="1"/>
          </p:nvPr>
        </p:nvSpPr>
        <p:spPr>
          <a:xfrm>
            <a:off x="265500" y="36358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body" idx="1"/>
          </p:nvPr>
        </p:nvSpPr>
        <p:spPr>
          <a:xfrm>
            <a:off x="311700" y="5640967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739800"/>
            <a:ext cx="8520600" cy="20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1"/>
          </p:nvPr>
        </p:nvSpPr>
        <p:spPr>
          <a:xfrm>
            <a:off x="311700" y="39942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 rtl="0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●"/>
              <a:defRPr/>
            </a:lvl1pPr>
            <a:lvl2pPr marL="914400" lvl="1" indent="-3175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●"/>
              <a:defRPr/>
            </a:lvl2pPr>
            <a:lvl3pPr marL="1371600" lvl="2" indent="-317500" algn="l" rtl="0">
              <a:spcBef>
                <a:spcPts val="1600"/>
              </a:spcBef>
              <a:spcAft>
                <a:spcPts val="0"/>
              </a:spcAft>
              <a:buClr>
                <a:srgbClr val="F0C1B0"/>
              </a:buClr>
              <a:buSzPts val="1400"/>
              <a:buFont typeface="Noto Symbol"/>
              <a:buChar char="●"/>
              <a:defRPr/>
            </a:lvl3pPr>
            <a:lvl4pPr marL="1828800" lvl="3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ymbol"/>
              <a:buChar char="●"/>
              <a:defRPr/>
            </a:lvl4pPr>
            <a:lvl5pPr marL="2286000" lvl="4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bre Baskerville"/>
              <a:buChar char="o"/>
              <a:defRPr/>
            </a:lvl5pPr>
            <a:lvl6pPr marL="2743200" lvl="5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bre Baskerville"/>
              <a:buChar char="•"/>
              <a:defRPr/>
            </a:lvl6pPr>
            <a:lvl7pPr marL="3200400" lvl="6" indent="-3175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ibre Baskerville"/>
              <a:buChar char="•"/>
              <a:defRPr/>
            </a:lvl7pPr>
            <a:lvl8pPr marL="3657600" lvl="7" indent="-317500" algn="l" rtl="0">
              <a:spcBef>
                <a:spcPts val="1600"/>
              </a:spcBef>
              <a:spcAft>
                <a:spcPts val="0"/>
              </a:spcAft>
              <a:buClr>
                <a:srgbClr val="F0C1B0"/>
              </a:buClr>
              <a:buSzPts val="1400"/>
              <a:buFont typeface="Libre Baskerville"/>
              <a:buChar char="•"/>
              <a:defRPr/>
            </a:lvl8pPr>
            <a:lvl9pPr marL="4114800" lvl="8" indent="-317500" algn="l" rtl="0">
              <a:spcBef>
                <a:spcPts val="1600"/>
              </a:spcBef>
              <a:spcAft>
                <a:spcPts val="1600"/>
              </a:spcAft>
              <a:buClr>
                <a:srgbClr val="DDB8B3"/>
              </a:buClr>
              <a:buSzPts val="1400"/>
              <a:buFont typeface="Libre Baskerville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hyperlink" Target="https://gym.openai.com/envs/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rll.berkeley.edu/deeprlcourse/f17docs/lecture_4_policy_gradient.pdf" TargetMode="External"/><Relationship Id="rId4" Type="http://schemas.openxmlformats.org/officeDocument/2006/relationships/hyperlink" Target="http://rll.berkeley.edu/deeprlcourse/f17docs/lecture_13_advanced_pg.pdf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karpathy.github.io/2016/05/31/rl/" TargetMode="External"/><Relationship Id="rId4" Type="http://schemas.openxmlformats.org/officeDocument/2006/relationships/hyperlink" Target="https://arxiv.org/pdf/1506.02438.pdf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mldsta/mlds-2018-hw4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rive.google.com/drive/folders/1BFvOlJoEZSZ5j_vqLCc4pTOQOmNyarr-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rll.berkeley.edu/deeprlcourse/#lecture-videos" TargetMode="External"/><Relationship Id="rId4" Type="http://schemas.openxmlformats.org/officeDocument/2006/relationships/hyperlink" Target="http://www0.cs.ucl.ac.uk/staff/d.silver/web/Teaching.html" TargetMode="External"/><Relationship Id="rId5" Type="http://schemas.openxmlformats.org/officeDocument/2006/relationships/hyperlink" Target="https://goo.gl/v5ig6e" TargetMode="External"/><Relationship Id="rId6" Type="http://schemas.openxmlformats.org/officeDocument/2006/relationships/hyperlink" Target="http://karpathy.github.io/2016/05/31/rl/" TargetMode="External"/><Relationship Id="rId7" Type="http://schemas.openxmlformats.org/officeDocument/2006/relationships/hyperlink" Target="https://goo.gl/o3C8fF" TargetMode="External"/><Relationship Id="rId8" Type="http://schemas.openxmlformats.org/officeDocument/2006/relationships/hyperlink" Target="https://blog.openai.com/" TargetMode="External"/><Relationship Id="rId9" Type="http://schemas.openxmlformats.org/officeDocument/2006/relationships/hyperlink" Target="http://incompleteideas.net/sutton/book/the-book-2nd.html" TargetMode="External"/><Relationship Id="rId10" Type="http://schemas.openxmlformats.org/officeDocument/2006/relationships/hyperlink" Target="https://github.com/williamFalcon/DeepRLHacks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MLDS </a:t>
            </a:r>
            <a:r>
              <a:rPr lang="zh-TW"/>
              <a:t>2018 </a:t>
            </a:r>
            <a:r>
              <a:rPr lang="en-US" altLang="zh-TW" smtClean="0"/>
              <a:t>Fall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HW4-1 - Policy Gradient</a:t>
            </a:r>
            <a:endParaRPr dirty="0"/>
          </a:p>
        </p:txBody>
      </p:sp>
      <p:sp>
        <p:nvSpPr>
          <p:cNvPr id="118" name="Google Shape;118;p26"/>
          <p:cNvSpPr txBox="1">
            <a:spLocks noGrp="1"/>
          </p:cNvSpPr>
          <p:nvPr>
            <p:ph type="subTitle" idx="1"/>
          </p:nvPr>
        </p:nvSpPr>
        <p:spPr>
          <a:xfrm>
            <a:off x="311700" y="3778819"/>
            <a:ext cx="8520600" cy="17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2018</a:t>
            </a:r>
            <a:r>
              <a:rPr lang="zh-TW" dirty="0" smtClean="0"/>
              <a:t>/</a:t>
            </a:r>
            <a:r>
              <a:rPr lang="en-US" altLang="zh-TW" dirty="0" smtClean="0"/>
              <a:t>12</a:t>
            </a:r>
            <a:r>
              <a:rPr lang="zh-TW" dirty="0" smtClean="0"/>
              <a:t>/</a:t>
            </a:r>
            <a:r>
              <a:rPr lang="en-US" altLang="zh-TW" smtClean="0"/>
              <a:t>2</a:t>
            </a:r>
            <a:r>
              <a:rPr lang="zh-TW" smtClean="0"/>
              <a:t>1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 err="1" smtClean="0"/>
              <a:t>adlxmlds</a:t>
            </a:r>
            <a:r>
              <a:rPr lang="zh-TW" dirty="0" smtClean="0"/>
              <a:t>@</a:t>
            </a:r>
            <a:r>
              <a:rPr lang="zh-TW" dirty="0"/>
              <a:t>gmail.com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Time Schedule</a:t>
            </a:r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altLang="zh-TW" sz="2400" dirty="0" smtClean="0"/>
              <a:t>Jan</a:t>
            </a:r>
            <a:r>
              <a:rPr lang="zh-TW" sz="2400" dirty="0" smtClean="0"/>
              <a:t> </a:t>
            </a:r>
            <a:r>
              <a:rPr lang="en-US" altLang="zh-TW" sz="2400" dirty="0" smtClean="0"/>
              <a:t>18</a:t>
            </a:r>
            <a:r>
              <a:rPr lang="zh-TW" sz="2400" dirty="0" smtClean="0"/>
              <a:t>th </a:t>
            </a:r>
            <a:r>
              <a:rPr lang="en-US" altLang="zh-TW" sz="2400" dirty="0" smtClean="0"/>
              <a:t>14</a:t>
            </a:r>
            <a:r>
              <a:rPr lang="zh-TW" sz="2400" dirty="0" smtClean="0"/>
              <a:t>:</a:t>
            </a:r>
            <a:r>
              <a:rPr lang="en-US" altLang="zh-TW" sz="2400" dirty="0" smtClean="0"/>
              <a:t>20</a:t>
            </a:r>
            <a:r>
              <a:rPr lang="zh-TW" sz="2400" dirty="0" smtClean="0"/>
              <a:t> </a:t>
            </a:r>
            <a:r>
              <a:rPr lang="zh-TW" sz="2400" dirty="0"/>
              <a:t>Deadline (all in one)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body" idx="1"/>
          </p:nvPr>
        </p:nvSpPr>
        <p:spPr>
          <a:xfrm>
            <a:off x="311700" y="1298125"/>
            <a:ext cx="8520600" cy="53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b="1"/>
              <a:t>Introduction</a:t>
            </a:r>
            <a:endParaRPr sz="2400" b="1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Game Playing : Pong</a:t>
            </a:r>
            <a:endParaRPr sz="20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b="1"/>
              <a:t>Deep Reinforcement Learning</a:t>
            </a:r>
            <a:endParaRPr sz="2400" b="1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Policy Gradient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Improvements to Policy Gradient</a:t>
            </a:r>
            <a:endParaRPr sz="20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b="1"/>
              <a:t>Training Hints</a:t>
            </a:r>
            <a:endParaRPr sz="2400" b="1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b="1"/>
              <a:t>Grading &amp; Format</a:t>
            </a:r>
            <a:endParaRPr sz="2400" b="1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Grading Policy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Code Format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Report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Submission</a:t>
            </a:r>
            <a:endParaRPr sz="2000"/>
          </a:p>
        </p:txBody>
      </p:sp>
      <p:sp>
        <p:nvSpPr>
          <p:cNvPr id="131" name="Google Shape;131;p28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Outline</a:t>
            </a: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Game Playing</a:t>
            </a:r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Implement an agent to play Atari games using Deep Reinforcement Learning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In this homework, you are required to implement </a:t>
            </a:r>
            <a:r>
              <a:rPr lang="zh-TW" sz="2400" b="1"/>
              <a:t>Policy Gradient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The Pong environment is used in this homework</a:t>
            </a:r>
            <a:endParaRPr sz="2400"/>
          </a:p>
        </p:txBody>
      </p:sp>
      <p:sp>
        <p:nvSpPr>
          <p:cNvPr id="138" name="Google Shape;138;p29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Introduction</a:t>
            </a: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Environment</a:t>
            </a:r>
            <a:endParaRPr/>
          </a:p>
        </p:txBody>
      </p:sp>
      <p:sp>
        <p:nvSpPr>
          <p:cNvPr id="144" name="Google Shape;144;p30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Introduction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45" name="Google Shape;145;p30"/>
          <p:cNvSpPr txBox="1"/>
          <p:nvPr/>
        </p:nvSpPr>
        <p:spPr>
          <a:xfrm>
            <a:off x="3636990" y="1890500"/>
            <a:ext cx="15927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2"/>
                </a:solidFill>
              </a:rPr>
              <a:t>Pong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46" name="Google Shape;1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075" y="2697975"/>
            <a:ext cx="363855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0"/>
          <p:cNvSpPr txBox="1"/>
          <p:nvPr/>
        </p:nvSpPr>
        <p:spPr>
          <a:xfrm>
            <a:off x="2614075" y="5717450"/>
            <a:ext cx="44346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https://gym.openai.com/envs/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Policy Gradient</a:t>
            </a:r>
            <a:endParaRPr/>
          </a:p>
        </p:txBody>
      </p:sp>
      <p:sp>
        <p:nvSpPr>
          <p:cNvPr id="153" name="Google Shape;153;p31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Deep Reinforcement Learning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54" name="Google Shape;1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25" y="2345827"/>
            <a:ext cx="7986150" cy="21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300" y="1393533"/>
            <a:ext cx="8253375" cy="353534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1"/>
          <p:cNvSpPr txBox="1"/>
          <p:nvPr/>
        </p:nvSpPr>
        <p:spPr>
          <a:xfrm>
            <a:off x="632775" y="5130675"/>
            <a:ext cx="7986000" cy="16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Update per step → SGD → High Variance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Update per episode or by mini batch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episode : A player win the game (21)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mini batch : someone get some points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31"/>
          <p:cNvSpPr txBox="1"/>
          <p:nvPr/>
        </p:nvSpPr>
        <p:spPr>
          <a:xfrm>
            <a:off x="3975175" y="3701150"/>
            <a:ext cx="4234200" cy="1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6200" y="3413850"/>
            <a:ext cx="3356100" cy="1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REINFORCE Baseline on Pong</a:t>
            </a:r>
            <a:endParaRPr/>
          </a:p>
        </p:txBody>
      </p:sp>
      <p:sp>
        <p:nvSpPr>
          <p:cNvPr id="164" name="Google Shape;164;p32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Deep Reinforcement Learning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65" name="Google Shape;165;p32"/>
          <p:cNvSpPr txBox="1"/>
          <p:nvPr/>
        </p:nvSpPr>
        <p:spPr>
          <a:xfrm>
            <a:off x="397850" y="1459975"/>
            <a:ext cx="8090400" cy="49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Training loop(simplest version):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zh-TW" sz="2000"/>
              <a:t>Play until a game is over(one player gets 21 points) with policy network     and store (s,a,r) tuples into memory m.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zh-TW" sz="2000"/>
              <a:t>Discount and normalize rewards in memory into     to reduce variance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zh-TW" sz="2000"/>
              <a:t>Approximate gradient</a:t>
            </a:r>
            <a:br>
              <a:rPr lang="zh-TW" sz="2000"/>
            </a:b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zh-TW" sz="2000"/>
              <a:t>Clear the memory m</a:t>
            </a:r>
            <a:endParaRPr sz="2000"/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950" y="3079925"/>
            <a:ext cx="4184286" cy="6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1300" y="3697675"/>
            <a:ext cx="2303950" cy="3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8875" y="2419550"/>
            <a:ext cx="209550" cy="30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9802" y="2219900"/>
            <a:ext cx="300251" cy="238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311700" y="593375"/>
            <a:ext cx="88323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Improvements to Policy Gradient</a:t>
            </a:r>
            <a:endParaRPr/>
          </a:p>
        </p:txBody>
      </p:sp>
      <p:sp>
        <p:nvSpPr>
          <p:cNvPr id="175" name="Google Shape;175;p33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Deep Reinforcement Learning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76" name="Google Shape;176;p33"/>
          <p:cNvSpPr txBox="1"/>
          <p:nvPr/>
        </p:nvSpPr>
        <p:spPr>
          <a:xfrm>
            <a:off x="311700" y="5480175"/>
            <a:ext cx="88323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http://rll.berkeley.edu/deeprlcourse/f17docs/lecture_4_policy_gradient.pdf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4"/>
              </a:rPr>
              <a:t>http://rll.berkeley.edu/deeprlcourse/f17docs/lecture_13_advanced_pg.pdf</a:t>
            </a:r>
            <a:endParaRPr sz="1800"/>
          </a:p>
        </p:txBody>
      </p:sp>
      <p:sp>
        <p:nvSpPr>
          <p:cNvPr id="177" name="Google Shape;177;p33"/>
          <p:cNvSpPr txBox="1">
            <a:spLocks noGrp="1"/>
          </p:cNvSpPr>
          <p:nvPr>
            <p:ph type="body" idx="1"/>
          </p:nvPr>
        </p:nvSpPr>
        <p:spPr>
          <a:xfrm>
            <a:off x="311700" y="1688425"/>
            <a:ext cx="8520600" cy="31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Variance Reduction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Natural Policy Gradient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Trust Region Policy Optimization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Proximal Policy Optimization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Preprocessing for States</a:t>
            </a:r>
            <a:endParaRPr/>
          </a:p>
        </p:txBody>
      </p:sp>
      <p:sp>
        <p:nvSpPr>
          <p:cNvPr id="183" name="Google Shape;183;p34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Training Hint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84" name="Google Shape;184;p34"/>
          <p:cNvSpPr txBox="1">
            <a:spLocks noGrp="1"/>
          </p:cNvSpPr>
          <p:nvPr>
            <p:ph type="body" idx="1"/>
          </p:nvPr>
        </p:nvSpPr>
        <p:spPr>
          <a:xfrm>
            <a:off x="389100" y="1783487"/>
            <a:ext cx="8671800" cy="3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Which is better ?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rgb channel or gray scale</a:t>
            </a:r>
            <a:endParaRPr sz="24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-"/>
            </a:pPr>
            <a:r>
              <a:rPr lang="zh-TW" sz="2400" dirty="0">
                <a:solidFill>
                  <a:srgbClr val="005CC5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0.2126</a:t>
            </a:r>
            <a:r>
              <a:rPr lang="zh-TW" sz="2400" dirty="0">
                <a:solidFill>
                  <a:srgbClr val="24292E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zh-TW" sz="2400" dirty="0">
                <a:solidFill>
                  <a:srgbClr val="D73A4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*</a:t>
            </a:r>
            <a:r>
              <a:rPr lang="zh-TW" sz="2400" dirty="0">
                <a:solidFill>
                  <a:srgbClr val="24292E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Red </a:t>
            </a:r>
            <a:r>
              <a:rPr lang="zh-TW" sz="2400" dirty="0">
                <a:solidFill>
                  <a:srgbClr val="D73A4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+</a:t>
            </a:r>
            <a:r>
              <a:rPr lang="zh-TW" sz="2400" dirty="0">
                <a:solidFill>
                  <a:srgbClr val="24292E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zh-TW" sz="2400" dirty="0">
                <a:solidFill>
                  <a:srgbClr val="005CC5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0.7152</a:t>
            </a:r>
            <a:r>
              <a:rPr lang="zh-TW" sz="2400" dirty="0">
                <a:solidFill>
                  <a:srgbClr val="24292E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zh-TW" sz="2400" dirty="0">
                <a:solidFill>
                  <a:srgbClr val="D73A4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*</a:t>
            </a:r>
            <a:r>
              <a:rPr lang="zh-TW" sz="2400" dirty="0">
                <a:solidFill>
                  <a:srgbClr val="24292E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Green </a:t>
            </a:r>
            <a:r>
              <a:rPr lang="zh-TW" sz="2400" dirty="0">
                <a:solidFill>
                  <a:srgbClr val="D73A4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+</a:t>
            </a:r>
            <a:r>
              <a:rPr lang="zh-TW" sz="2400" dirty="0">
                <a:solidFill>
                  <a:srgbClr val="24292E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zh-TW" sz="2400" dirty="0">
                <a:solidFill>
                  <a:srgbClr val="005CC5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0.0722</a:t>
            </a:r>
            <a:r>
              <a:rPr lang="zh-TW" sz="2400" dirty="0">
                <a:solidFill>
                  <a:srgbClr val="24292E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zh-TW" sz="2400" dirty="0">
                <a:solidFill>
                  <a:srgbClr val="D73A4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*</a:t>
            </a:r>
            <a:r>
              <a:rPr lang="zh-TW" sz="2400" dirty="0">
                <a:solidFill>
                  <a:srgbClr val="24292E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Blue</a:t>
            </a:r>
            <a:endParaRPr sz="2400" dirty="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single or residual</a:t>
            </a:r>
            <a:endParaRPr sz="24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-"/>
            </a:pPr>
            <a:r>
              <a:rPr lang="zh-TW" sz="2400" dirty="0"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zh-TW" sz="2400" dirty="0"/>
              <a:t>’</a:t>
            </a:r>
            <a:r>
              <a:rPr lang="zh-TW" sz="2400" dirty="0">
                <a:latin typeface="Georgia"/>
                <a:ea typeface="Georgia"/>
                <a:cs typeface="Georgia"/>
                <a:sym typeface="Georgia"/>
              </a:rPr>
              <a:t>(t) = s(t+1) - s(t)</a:t>
            </a:r>
            <a:endParaRPr sz="2400" dirty="0">
              <a:latin typeface="Georgia"/>
              <a:ea typeface="Georgia"/>
              <a:cs typeface="Georgia"/>
              <a:sym typeface="Georgia"/>
            </a:endParaRPr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-"/>
            </a:pPr>
            <a:r>
              <a:rPr lang="zh-TW" sz="2400" dirty="0">
                <a:latin typeface="Georgia"/>
                <a:ea typeface="Georgia"/>
                <a:cs typeface="Georgia"/>
                <a:sym typeface="Georgia"/>
              </a:rPr>
              <a:t>represent change of pixel</a:t>
            </a:r>
            <a:endParaRPr sz="2400" dirty="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scoreboard yes or no?</a:t>
            </a:r>
            <a:endParaRPr sz="2400" dirty="0"/>
          </a:p>
        </p:txBody>
      </p:sp>
      <p:pic>
        <p:nvPicPr>
          <p:cNvPr id="185" name="Google Shape;1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225" y="3150700"/>
            <a:ext cx="2736038" cy="35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RGB vs Gray scale</a:t>
            </a:r>
            <a:endParaRPr/>
          </a:p>
        </p:txBody>
      </p:sp>
      <p:sp>
        <p:nvSpPr>
          <p:cNvPr id="191" name="Google Shape;191;p35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92" name="Google Shape;1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88425"/>
            <a:ext cx="3701275" cy="483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3375" y="1688425"/>
            <a:ext cx="3701277" cy="483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Residual State</a:t>
            </a:r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sz="3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00" name="Google Shape;20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24025"/>
            <a:ext cx="24574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3275" y="1822199"/>
            <a:ext cx="2457450" cy="3213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4844" y="1810541"/>
            <a:ext cx="2457450" cy="323688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6"/>
          <p:cNvSpPr/>
          <p:nvPr/>
        </p:nvSpPr>
        <p:spPr>
          <a:xfrm>
            <a:off x="2871575" y="3329525"/>
            <a:ext cx="387300" cy="484200"/>
          </a:xfrm>
          <a:prstGeom prst="mathMinus">
            <a:avLst>
              <a:gd name="adj1" fmla="val 235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6"/>
          <p:cNvSpPr/>
          <p:nvPr/>
        </p:nvSpPr>
        <p:spPr>
          <a:xfrm>
            <a:off x="5919184" y="3273175"/>
            <a:ext cx="337200" cy="4842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6"/>
          <p:cNvSpPr txBox="1"/>
          <p:nvPr/>
        </p:nvSpPr>
        <p:spPr>
          <a:xfrm>
            <a:off x="819675" y="5321400"/>
            <a:ext cx="14415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FF0000"/>
                </a:solidFill>
              </a:rPr>
              <a:t>S2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206" name="Google Shape;206;p36"/>
          <p:cNvSpPr txBox="1"/>
          <p:nvPr/>
        </p:nvSpPr>
        <p:spPr>
          <a:xfrm>
            <a:off x="3851250" y="5321400"/>
            <a:ext cx="14415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FF0000"/>
                </a:solidFill>
              </a:rPr>
              <a:t>S1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207" name="Google Shape;207;p36"/>
          <p:cNvSpPr txBox="1"/>
          <p:nvPr/>
        </p:nvSpPr>
        <p:spPr>
          <a:xfrm>
            <a:off x="6882825" y="5321400"/>
            <a:ext cx="14415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FF0000"/>
                </a:solidFill>
              </a:rPr>
              <a:t>S1’</a:t>
            </a:r>
            <a:endParaRPr sz="3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 and Action</a:t>
            </a:r>
            <a:endParaRPr/>
          </a:p>
        </p:txBody>
      </p:sp>
      <p:sp>
        <p:nvSpPr>
          <p:cNvPr id="213" name="Google Shape;213;p37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Training Hint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1"/>
          </p:nvPr>
        </p:nvSpPr>
        <p:spPr>
          <a:xfrm>
            <a:off x="311700" y="1688425"/>
            <a:ext cx="8832300" cy="3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-"/>
            </a:pPr>
            <a:r>
              <a:rPr lang="zh-TW" sz="2400" dirty="0"/>
              <a:t>Reward normalization</a:t>
            </a:r>
            <a:endParaRPr sz="2400" dirty="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More stable</a:t>
            </a:r>
            <a:endParaRPr sz="2400" dirty="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u="sng" dirty="0">
                <a:solidFill>
                  <a:schemeClr val="hlink"/>
                </a:solidFill>
                <a:hlinkClick r:id="rId3"/>
              </a:rPr>
              <a:t>http://karpathy.github.io/2016/05/31/rl</a:t>
            </a:r>
            <a:endParaRPr sz="2400" dirty="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u="sng" dirty="0">
                <a:solidFill>
                  <a:schemeClr val="hlink"/>
                </a:solidFill>
                <a:hlinkClick r:id="rId4"/>
              </a:rPr>
              <a:t>https://arxiv.org/pdf/1506.02438.pdf</a:t>
            </a:r>
            <a:endParaRPr sz="2400" dirty="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Action space </a:t>
            </a:r>
            <a:r>
              <a:rPr lang="zh-TW" sz="2400" dirty="0" smtClean="0"/>
              <a:t>reduction</a:t>
            </a:r>
            <a:endParaRPr lang="en-US" altLang="zh-TW" sz="2400" dirty="0" smtClean="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 dirty="0" smtClean="0"/>
              <a:t>Reset the running add of discounted reward to zero if a player scores (</a:t>
            </a:r>
            <a:r>
              <a:rPr lang="en-US" sz="2400" smtClean="0"/>
              <a:t>Pong specific)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 normalization</a:t>
            </a:r>
            <a:endParaRPr/>
          </a:p>
        </p:txBody>
      </p:sp>
      <p:sp>
        <p:nvSpPr>
          <p:cNvPr id="220" name="Google Shape;220;p38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21" name="Google Shape;2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0754"/>
            <a:ext cx="9143999" cy="493904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8"/>
          <p:cNvSpPr/>
          <p:nvPr/>
        </p:nvSpPr>
        <p:spPr>
          <a:xfrm>
            <a:off x="2299900" y="1540900"/>
            <a:ext cx="1224900" cy="979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8"/>
          <p:cNvSpPr txBox="1"/>
          <p:nvPr/>
        </p:nvSpPr>
        <p:spPr>
          <a:xfrm>
            <a:off x="3581025" y="1595325"/>
            <a:ext cx="25224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rgbClr val="FF0000"/>
                </a:solidFill>
              </a:rPr>
              <a:t>Not same high!</a:t>
            </a:r>
            <a:endParaRPr sz="1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Training Plot</a:t>
            </a:r>
            <a:endParaRPr/>
          </a:p>
        </p:txBody>
      </p:sp>
      <p:sp>
        <p:nvSpPr>
          <p:cNvPr id="229" name="Google Shape;229;p39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Training Hint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30" name="Google Shape;230;p39"/>
          <p:cNvSpPr txBox="1">
            <a:spLocks noGrp="1"/>
          </p:cNvSpPr>
          <p:nvPr>
            <p:ph type="body" idx="1"/>
          </p:nvPr>
        </p:nvSpPr>
        <p:spPr>
          <a:xfrm>
            <a:off x="311700" y="1536574"/>
            <a:ext cx="8671800" cy="3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The unit of x-axis is 1000 episode</a:t>
            </a:r>
            <a:endParaRPr sz="200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Around 6000 episode to reach baseline in “average”</a:t>
            </a:r>
            <a:endParaRPr sz="200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Mind your preprocessing if your curve differs from this too much</a:t>
            </a:r>
            <a:endParaRPr sz="200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Baseline Network Structure : Flatten + Two-layer FNN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256 dimension hidden layer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output layer (action space size)</a:t>
            </a:r>
            <a:endParaRPr sz="200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Update per episode (21 point game)</a:t>
            </a:r>
            <a:endParaRPr sz="2000"/>
          </a:p>
        </p:txBody>
      </p:sp>
      <p:pic>
        <p:nvPicPr>
          <p:cNvPr id="231" name="Google Shape;23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25" y="4044258"/>
            <a:ext cx="8907901" cy="26507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9"/>
          <p:cNvCxnSpPr/>
          <p:nvPr/>
        </p:nvCxnSpPr>
        <p:spPr>
          <a:xfrm>
            <a:off x="536675" y="4914875"/>
            <a:ext cx="8595600" cy="23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39"/>
          <p:cNvSpPr/>
          <p:nvPr/>
        </p:nvSpPr>
        <p:spPr>
          <a:xfrm>
            <a:off x="5614800" y="3340350"/>
            <a:ext cx="3368700" cy="8109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00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>
                <a:solidFill>
                  <a:srgbClr val="695D46"/>
                </a:solidFill>
              </a:rPr>
              <a:t>Freeze random seed!</a:t>
            </a:r>
            <a:endParaRPr sz="1600" b="1">
              <a:solidFill>
                <a:srgbClr val="695D4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Grading Policy</a:t>
            </a:r>
            <a:endParaRPr/>
          </a:p>
        </p:txBody>
      </p:sp>
      <p:sp>
        <p:nvSpPr>
          <p:cNvPr id="240" name="Google Shape;240;p40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50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TW" sz="2400" dirty="0"/>
              <a:t>Code Baseline 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zh-TW" sz="2400" dirty="0" smtClean="0"/>
              <a:t>Report</a:t>
            </a: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 smtClean="0"/>
              <a:t>Baseline</a:t>
            </a:r>
            <a:endParaRPr dirty="0"/>
          </a:p>
        </p:txBody>
      </p:sp>
      <p:sp>
        <p:nvSpPr>
          <p:cNvPr id="247" name="Google Shape;247;p41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50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Policy </a:t>
            </a:r>
            <a:r>
              <a:rPr lang="zh-TW" sz="2400" dirty="0" smtClean="0"/>
              <a:t>Gradient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1800" dirty="0"/>
              <a:t>Getting averaging reward in 30 episodes over </a:t>
            </a:r>
            <a:r>
              <a:rPr lang="en-US" altLang="zh-TW" sz="1800" b="1" dirty="0"/>
              <a:t>1</a:t>
            </a:r>
            <a:r>
              <a:rPr lang="zh-TW" sz="1800" dirty="0" smtClean="0"/>
              <a:t> </a:t>
            </a:r>
            <a:r>
              <a:rPr lang="zh-TW" sz="1800" dirty="0"/>
              <a:t>in </a:t>
            </a:r>
            <a:r>
              <a:rPr lang="zh-TW" sz="1800" b="1" dirty="0"/>
              <a:t>Pong</a:t>
            </a:r>
            <a:endParaRPr sz="1800"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/>
              <a:t>Without OpenAI’s Atari wrapper &amp; reward clipping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/>
              <a:t>Improvements to Policy Gradient are allowed</a:t>
            </a:r>
            <a:endParaRPr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Code Format</a:t>
            </a:r>
            <a:endParaRPr/>
          </a:p>
        </p:txBody>
      </p:sp>
      <p:sp>
        <p:nvSpPr>
          <p:cNvPr id="254" name="Google Shape;254;p42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50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>
                <a:solidFill>
                  <a:srgbClr val="695D46"/>
                </a:solidFill>
              </a:rPr>
              <a:t>Please download the sample files from </a:t>
            </a:r>
            <a:r>
              <a:rPr lang="zh-TW" sz="2000" u="sng" dirty="0">
                <a:solidFill>
                  <a:schemeClr val="hlink"/>
                </a:solidFill>
                <a:hlinkClick r:id="rId3"/>
              </a:rPr>
              <a:t>github</a:t>
            </a:r>
            <a:endParaRPr sz="2000" dirty="0">
              <a:solidFill>
                <a:srgbClr val="695D46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-"/>
            </a:pPr>
            <a:r>
              <a:rPr lang="zh-TW" sz="2000" dirty="0">
                <a:solidFill>
                  <a:srgbClr val="695D46"/>
                </a:solidFill>
              </a:rPr>
              <a:t>Follow the instructions in README to install required packages</a:t>
            </a:r>
            <a:endParaRPr sz="2000" dirty="0">
              <a:solidFill>
                <a:srgbClr val="695D46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Microsoft JhengHei"/>
              <a:buChar char="-"/>
            </a:pPr>
            <a:r>
              <a:rPr lang="zh-TW" sz="2000" b="1" dirty="0">
                <a:solidFill>
                  <a:srgbClr val="FF0000"/>
                </a:solidFill>
              </a:rPr>
              <a:t>Four</a:t>
            </a:r>
            <a:r>
              <a:rPr lang="zh-TW" sz="2000" dirty="0">
                <a:solidFill>
                  <a:srgbClr val="695D46"/>
                </a:solidFill>
              </a:rPr>
              <a:t> functions you should implement in </a:t>
            </a:r>
            <a:r>
              <a:rPr lang="zh-TW" sz="2000" dirty="0" smtClean="0">
                <a:solidFill>
                  <a:srgbClr val="1155CC"/>
                </a:solidFill>
              </a:rPr>
              <a:t>agent_</a:t>
            </a:r>
            <a:r>
              <a:rPr lang="en-US" altLang="zh-TW" sz="2000" dirty="0" smtClean="0">
                <a:solidFill>
                  <a:srgbClr val="1155CC"/>
                </a:solidFill>
              </a:rPr>
              <a:t>[</a:t>
            </a:r>
            <a:r>
              <a:rPr lang="zh-TW" sz="2000" dirty="0" smtClean="0">
                <a:solidFill>
                  <a:srgbClr val="1155CC"/>
                </a:solidFill>
              </a:rPr>
              <a:t>pg</a:t>
            </a:r>
            <a:r>
              <a:rPr lang="en-US" altLang="zh-TW" sz="2000" dirty="0" smtClean="0">
                <a:solidFill>
                  <a:srgbClr val="1155CC"/>
                </a:solidFill>
              </a:rPr>
              <a:t>|</a:t>
            </a:r>
            <a:r>
              <a:rPr lang="en-US" altLang="zh-TW" sz="2000" dirty="0" err="1" smtClean="0">
                <a:solidFill>
                  <a:srgbClr val="1155CC"/>
                </a:solidFill>
              </a:rPr>
              <a:t>dqn</a:t>
            </a:r>
            <a:r>
              <a:rPr lang="en-US" altLang="zh-TW" sz="2000" dirty="0" smtClean="0">
                <a:solidFill>
                  <a:srgbClr val="1155CC"/>
                </a:solidFill>
              </a:rPr>
              <a:t>]</a:t>
            </a:r>
            <a:r>
              <a:rPr lang="zh-TW" sz="2000" dirty="0" smtClean="0">
                <a:solidFill>
                  <a:srgbClr val="1155CC"/>
                </a:solidFill>
              </a:rPr>
              <a:t>.py</a:t>
            </a:r>
            <a:endParaRPr sz="2000" dirty="0">
              <a:solidFill>
                <a:srgbClr val="695D46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AutoNum type="arabicPeriod"/>
            </a:pPr>
            <a:r>
              <a:rPr lang="zh-TW" dirty="0">
                <a:solidFill>
                  <a:srgbClr val="695D46"/>
                </a:solidFill>
              </a:rPr>
              <a:t>__init__(self, env, args)</a:t>
            </a:r>
            <a:endParaRPr dirty="0">
              <a:solidFill>
                <a:srgbClr val="695D46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AutoNum type="arabicPeriod"/>
            </a:pPr>
            <a:r>
              <a:rPr lang="zh-TW" dirty="0">
                <a:solidFill>
                  <a:srgbClr val="695D46"/>
                </a:solidFill>
              </a:rPr>
              <a:t>init_game_setting(self)</a:t>
            </a:r>
            <a:endParaRPr dirty="0">
              <a:solidFill>
                <a:srgbClr val="695D46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AutoNum type="arabicPeriod"/>
            </a:pPr>
            <a:r>
              <a:rPr lang="zh-TW" dirty="0">
                <a:solidFill>
                  <a:srgbClr val="695D46"/>
                </a:solidFill>
              </a:rPr>
              <a:t>train(self)</a:t>
            </a:r>
            <a:endParaRPr dirty="0">
              <a:solidFill>
                <a:srgbClr val="695D46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AutoNum type="arabicPeriod"/>
            </a:pPr>
            <a:r>
              <a:rPr lang="zh-TW" dirty="0">
                <a:solidFill>
                  <a:srgbClr val="695D46"/>
                </a:solidFill>
              </a:rPr>
              <a:t>make_action(self, state, test)</a:t>
            </a:r>
            <a:endParaRPr dirty="0">
              <a:solidFill>
                <a:srgbClr val="1155CC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Microsoft JhengHei"/>
              <a:buChar char="-"/>
            </a:pPr>
            <a:r>
              <a:rPr lang="zh-TW" sz="2000" b="1" dirty="0">
                <a:solidFill>
                  <a:srgbClr val="FF0000"/>
                </a:solidFill>
              </a:rPr>
              <a:t>DO NOT</a:t>
            </a:r>
            <a:r>
              <a:rPr lang="zh-TW" sz="2000" dirty="0">
                <a:solidFill>
                  <a:srgbClr val="695D46"/>
                </a:solidFill>
              </a:rPr>
              <a:t> add any parameter in __init__(), init_game_setting() and make_action()</a:t>
            </a:r>
            <a:endParaRPr sz="2000" dirty="0">
              <a:solidFill>
                <a:srgbClr val="695D46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-"/>
            </a:pPr>
            <a:r>
              <a:rPr lang="zh-TW" sz="2000" dirty="0">
                <a:solidFill>
                  <a:srgbClr val="695D46"/>
                </a:solidFill>
              </a:rPr>
              <a:t>You can add new methods in the </a:t>
            </a:r>
            <a:r>
              <a:rPr lang="zh-TW" sz="2000" dirty="0" smtClean="0">
                <a:solidFill>
                  <a:srgbClr val="1155CC"/>
                </a:solidFill>
              </a:rPr>
              <a:t>agent_</a:t>
            </a:r>
            <a:r>
              <a:rPr lang="en-US" altLang="zh-TW" sz="2000" dirty="0" smtClean="0">
                <a:solidFill>
                  <a:srgbClr val="1155CC"/>
                </a:solidFill>
              </a:rPr>
              <a:t>[</a:t>
            </a:r>
            <a:r>
              <a:rPr lang="zh-TW" sz="2000" dirty="0" smtClean="0">
                <a:solidFill>
                  <a:srgbClr val="1155CC"/>
                </a:solidFill>
              </a:rPr>
              <a:t>pg</a:t>
            </a:r>
            <a:r>
              <a:rPr lang="en-US" altLang="zh-TW" sz="2000" dirty="0" smtClean="0">
                <a:solidFill>
                  <a:srgbClr val="1155CC"/>
                </a:solidFill>
              </a:rPr>
              <a:t>|</a:t>
            </a:r>
            <a:r>
              <a:rPr lang="en-US" altLang="zh-TW" sz="2000" dirty="0" err="1" smtClean="0">
                <a:solidFill>
                  <a:srgbClr val="1155CC"/>
                </a:solidFill>
              </a:rPr>
              <a:t>dqn</a:t>
            </a:r>
            <a:r>
              <a:rPr lang="en-US" altLang="zh-TW" sz="2000" dirty="0" smtClean="0">
                <a:solidFill>
                  <a:srgbClr val="1155CC"/>
                </a:solidFill>
              </a:rPr>
              <a:t>]</a:t>
            </a:r>
            <a:r>
              <a:rPr lang="zh-TW" sz="2000" dirty="0" smtClean="0">
                <a:solidFill>
                  <a:srgbClr val="1155CC"/>
                </a:solidFill>
              </a:rPr>
              <a:t>.py</a:t>
            </a:r>
            <a:endParaRPr lang="en-US" altLang="zh-TW" sz="2000" dirty="0" smtClean="0">
              <a:solidFill>
                <a:srgbClr val="1155CC"/>
              </a:solidFill>
            </a:endParaRPr>
          </a:p>
          <a:p>
            <a:pPr lvl="0" indent="-355600">
              <a:buClr>
                <a:srgbClr val="695D46"/>
              </a:buClr>
              <a:buSzPts val="2000"/>
              <a:buChar char="-"/>
            </a:pPr>
            <a:r>
              <a:rPr lang="en-US" altLang="zh-TW" sz="2000" dirty="0" smtClean="0">
                <a:solidFill>
                  <a:schemeClr val="bg2">
                    <a:lumMod val="50000"/>
                  </a:schemeClr>
                </a:solidFill>
              </a:rPr>
              <a:t>You can add your arguments in </a:t>
            </a:r>
            <a:r>
              <a:rPr lang="en-US" altLang="zh-TW" sz="2000" dirty="0" err="1" smtClean="0">
                <a:solidFill>
                  <a:srgbClr val="1155CC"/>
                </a:solidFill>
              </a:rPr>
              <a:t>argument.py</a:t>
            </a:r>
            <a:endParaRPr lang="en-US" altLang="zh-TW" sz="2000" dirty="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60" name="Google Shape;260;p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Report </a:t>
            </a:r>
            <a:endParaRPr dirty="0"/>
          </a:p>
        </p:txBody>
      </p:sp>
      <p:sp>
        <p:nvSpPr>
          <p:cNvPr id="261" name="Google Shape;261;p43"/>
          <p:cNvSpPr txBox="1">
            <a:spLocks noGrp="1"/>
          </p:cNvSpPr>
          <p:nvPr>
            <p:ph type="body" idx="1"/>
          </p:nvPr>
        </p:nvSpPr>
        <p:spPr>
          <a:xfrm>
            <a:off x="278550" y="1497825"/>
            <a:ext cx="8520600" cy="48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Up to </a:t>
            </a:r>
            <a:r>
              <a:rPr lang="zh-TW" sz="2400" dirty="0">
                <a:solidFill>
                  <a:srgbClr val="FF0000"/>
                </a:solidFill>
              </a:rPr>
              <a:t>6</a:t>
            </a:r>
            <a:r>
              <a:rPr lang="zh-TW" sz="2400" dirty="0"/>
              <a:t> pages (4-1 + 4-2 + 4-3), in </a:t>
            </a:r>
            <a:r>
              <a:rPr lang="zh-TW" sz="2400" dirty="0">
                <a:solidFill>
                  <a:srgbClr val="FF0000"/>
                </a:solidFill>
              </a:rPr>
              <a:t>Chinese</a:t>
            </a:r>
            <a:endParaRPr sz="24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Describe your Policy Gradient </a:t>
            </a:r>
            <a:r>
              <a:rPr lang="zh-TW" sz="2000" dirty="0" smtClean="0"/>
              <a:t>model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Plot the learning curve to show the performance of your Policy Gradient on Pong 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X-axis: number of time steps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Y-axis: average reward in last 30 episodes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Implement </a:t>
            </a:r>
            <a:r>
              <a:rPr lang="zh-TW" sz="2000" dirty="0">
                <a:solidFill>
                  <a:srgbClr val="FF0000"/>
                </a:solidFill>
              </a:rPr>
              <a:t>1</a:t>
            </a:r>
            <a:r>
              <a:rPr lang="zh-TW" sz="2000" dirty="0"/>
              <a:t> improvement method on page 8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Describe your tips for improvement 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Learning </a:t>
            </a:r>
            <a:r>
              <a:rPr lang="zh-TW" sz="2000" dirty="0" smtClean="0"/>
              <a:t>curve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Compare to the </a:t>
            </a:r>
            <a:r>
              <a:rPr lang="zh-TW" sz="2000" dirty="0" smtClean="0"/>
              <a:t>va</a:t>
            </a:r>
            <a:r>
              <a:rPr lang="en-US" altLang="zh-TW" sz="2000" dirty="0" smtClean="0"/>
              <a:t>n</a:t>
            </a:r>
            <a:r>
              <a:rPr lang="zh-TW" sz="2000" dirty="0" smtClean="0"/>
              <a:t>i</a:t>
            </a:r>
            <a:r>
              <a:rPr lang="en-US" altLang="zh-TW" sz="2000" dirty="0" err="1" smtClean="0"/>
              <a:t>ll</a:t>
            </a:r>
            <a:r>
              <a:rPr lang="zh-TW" sz="2000" dirty="0" smtClean="0"/>
              <a:t>a </a:t>
            </a:r>
            <a:r>
              <a:rPr lang="zh-TW" sz="2000" dirty="0"/>
              <a:t>policy </a:t>
            </a:r>
            <a:r>
              <a:rPr lang="zh-TW" sz="2000" dirty="0" smtClean="0"/>
              <a:t>gradient</a:t>
            </a:r>
            <a:endParaRPr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Submission</a:t>
            </a:r>
            <a:endParaRPr/>
          </a:p>
        </p:txBody>
      </p:sp>
      <p:sp>
        <p:nvSpPr>
          <p:cNvPr id="275" name="Google Shape;275;p45"/>
          <p:cNvSpPr txBox="1">
            <a:spLocks noGrp="1"/>
          </p:cNvSpPr>
          <p:nvPr>
            <p:ph type="body" idx="1"/>
          </p:nvPr>
        </p:nvSpPr>
        <p:spPr>
          <a:xfrm>
            <a:off x="311700" y="1363576"/>
            <a:ext cx="8520600" cy="51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Aft>
                <a:spcPts val="0"/>
              </a:spcAft>
              <a:buSzPts val="2000"/>
              <a:buChar char="-"/>
            </a:pPr>
            <a:r>
              <a:rPr lang="en-US" sz="2000" dirty="0" smtClean="0">
                <a:latin typeface="Microsoft New Tai Lue" charset="0"/>
                <a:ea typeface="Microsoft New Tai Lue" charset="0"/>
                <a:cs typeface="Microsoft New Tai Lue" charset="0"/>
              </a:rPr>
              <a:t>Submit your presentation files to: </a:t>
            </a:r>
            <a:r>
              <a:rPr lang="en-US" sz="2000" u="sng" dirty="0" smtClean="0">
                <a:solidFill>
                  <a:srgbClr val="0070C0"/>
                </a:solidFill>
                <a:latin typeface="+mj-lt"/>
                <a:ea typeface="Microsoft New Tai Lue" charset="0"/>
                <a:cs typeface="Microsoft New Tai Lue" charset="0"/>
                <a:hlinkClick r:id="rId3"/>
              </a:rPr>
              <a:t>google drive</a:t>
            </a:r>
            <a:endParaRPr lang="en-US" sz="2000" u="sng" dirty="0" smtClean="0">
              <a:solidFill>
                <a:srgbClr val="0070C0"/>
              </a:solidFill>
              <a:latin typeface="+mj-lt"/>
              <a:ea typeface="Microsoft New Tai Lue" charset="0"/>
              <a:cs typeface="Microsoft New Tai Lue" charset="0"/>
            </a:endParaRPr>
          </a:p>
          <a:p>
            <a:pPr marL="457200" lvl="0" indent="-355600" algn="l" rtl="0">
              <a:spcAft>
                <a:spcPts val="0"/>
              </a:spcAft>
              <a:buSzPts val="2000"/>
              <a:buChar char="-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Your </a:t>
            </a:r>
            <a:r>
              <a:rPr lang="en-US" sz="2000" dirty="0" err="1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github</a:t>
            </a: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 must have several files under the directory: hw4/</a:t>
            </a:r>
          </a:p>
          <a:p>
            <a:pPr lvl="1" indent="-355600">
              <a:spcBef>
                <a:spcPts val="0"/>
              </a:spcBef>
              <a:buSzPts val="2000"/>
              <a:buChar char="-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README</a:t>
            </a:r>
          </a:p>
          <a:p>
            <a:pPr lvl="1" indent="-355600">
              <a:spcBef>
                <a:spcPts val="0"/>
              </a:spcBef>
              <a:buSzPts val="2000"/>
              <a:buChar char="-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Other implementation files</a:t>
            </a:r>
          </a:p>
          <a:p>
            <a:pPr lvl="1" indent="-355600">
              <a:spcBef>
                <a:spcPts val="0"/>
              </a:spcBef>
              <a:buSzPts val="2000"/>
              <a:buChar char="-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Your models</a:t>
            </a:r>
          </a:p>
          <a:p>
            <a:pPr indent="-355600">
              <a:lnSpc>
                <a:spcPct val="114000"/>
              </a:lnSpc>
              <a:buSzPts val="2000"/>
              <a:buChar char="-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In your README:</a:t>
            </a:r>
          </a:p>
          <a:p>
            <a:pPr lvl="1" indent="-355600">
              <a:lnSpc>
                <a:spcPct val="114000"/>
              </a:lnSpc>
              <a:spcBef>
                <a:spcPts val="0"/>
              </a:spcBef>
              <a:buSzPts val="2000"/>
              <a:buChar char="-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Specify the toolkits/libraries and their corresponding version</a:t>
            </a:r>
          </a:p>
          <a:p>
            <a:pPr lvl="1" indent="-355600">
              <a:lnSpc>
                <a:spcPct val="114000"/>
              </a:lnSpc>
              <a:spcBef>
                <a:spcPts val="0"/>
              </a:spcBef>
              <a:buSzPts val="2000"/>
              <a:buChar char="-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Microsoft New Tai Lue" charset="0"/>
                <a:ea typeface="Microsoft New Tai Lue" charset="0"/>
                <a:cs typeface="Microsoft New Tai Lue" charset="0"/>
              </a:rPr>
              <a:t>Describe how to download your models</a:t>
            </a:r>
          </a:p>
          <a:p>
            <a:pPr marL="457200" lvl="0" indent="-355600" algn="l" rtl="0">
              <a:spcAft>
                <a:spcPts val="0"/>
              </a:spcAft>
              <a:buSzPts val="2000"/>
              <a:buChar char="-"/>
            </a:pPr>
            <a:endParaRPr sz="2000" u="sng" dirty="0">
              <a:solidFill>
                <a:srgbClr val="0070C0"/>
              </a:solidFill>
            </a:endParaRPr>
          </a:p>
          <a:p>
            <a:pPr marL="0" lvl="0" indent="0" algn="l" rtl="0">
              <a:spcAft>
                <a:spcPts val="0"/>
              </a:spcAft>
              <a:buNone/>
            </a:pPr>
            <a:endParaRPr sz="2000" dirty="0"/>
          </a:p>
          <a:p>
            <a:pPr marL="457200" marR="0" lvl="0" indent="0" algn="l" rtl="0">
              <a:lnSpc>
                <a:spcPct val="115000"/>
              </a:lnSpc>
              <a:spcAft>
                <a:spcPts val="1600"/>
              </a:spcAft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46808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Submission</a:t>
            </a:r>
            <a:endParaRPr/>
          </a:p>
        </p:txBody>
      </p:sp>
      <p:sp>
        <p:nvSpPr>
          <p:cNvPr id="275" name="Google Shape;275;p45"/>
          <p:cNvSpPr txBox="1">
            <a:spLocks noGrp="1"/>
          </p:cNvSpPr>
          <p:nvPr>
            <p:ph type="body" idx="1"/>
          </p:nvPr>
        </p:nvSpPr>
        <p:spPr>
          <a:xfrm>
            <a:off x="311700" y="1363576"/>
            <a:ext cx="8520600" cy="51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Deadline: </a:t>
            </a:r>
            <a:r>
              <a:rPr lang="zh-TW" dirty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201</a:t>
            </a:r>
            <a:r>
              <a:rPr lang="en-US" alt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r>
              <a:rPr 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en-US" altLang="zh-TW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r>
              <a:rPr lang="en-US" alt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18</a:t>
            </a:r>
            <a:r>
              <a:rPr 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</a:t>
            </a:r>
            <a:r>
              <a:rPr 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r>
              <a:rPr lang="en-US" alt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</a:t>
            </a:r>
            <a:r>
              <a:rPr lang="zh-TW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(GMT+8)</a:t>
            </a:r>
            <a:endParaRPr b="1" dirty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dirty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Your </a:t>
            </a:r>
            <a:r>
              <a:rPr lang="zh-TW" dirty="0" smtClean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</a:t>
            </a:r>
            <a:r>
              <a:rPr lang="en-US" altLang="zh-TW" dirty="0" smtClean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should</a:t>
            </a:r>
            <a:r>
              <a:rPr lang="zh-TW" dirty="0" smtClean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dirty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have </a:t>
            </a:r>
            <a:r>
              <a:rPr lang="zh-TW" dirty="0">
                <a:solidFill>
                  <a:srgbClr val="1155C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files</a:t>
            </a:r>
            <a:r>
              <a:rPr lang="zh-TW" dirty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under directory </a:t>
            </a:r>
            <a:r>
              <a:rPr lang="zh-TW" dirty="0">
                <a:solidFill>
                  <a:schemeClr val="bg2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hw4</a:t>
            </a:r>
            <a:r>
              <a:rPr lang="zh-TW" dirty="0" smtClean="0">
                <a:solidFill>
                  <a:schemeClr val="bg2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</a:t>
            </a:r>
            <a:endParaRPr dirty="0">
              <a:solidFill>
                <a:schemeClr val="bg2">
                  <a:lumMod val="50000"/>
                </a:schemeClr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Microsoft JhengHei"/>
              <a:buChar char="-"/>
            </a:pPr>
            <a:r>
              <a:rPr lang="zh-TW" sz="1800" dirty="0">
                <a:solidFill>
                  <a:srgbClr val="1155C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agent_dir/agent_pg.py</a:t>
            </a:r>
            <a:endParaRPr sz="1800" dirty="0">
              <a:solidFill>
                <a:srgbClr val="1155C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Microsoft JhengHei"/>
              <a:buChar char="-"/>
            </a:pPr>
            <a:r>
              <a:rPr lang="zh-TW" sz="1800" dirty="0">
                <a:solidFill>
                  <a:srgbClr val="1155C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agent_dir/agent_dqn.py</a:t>
            </a:r>
            <a:endParaRPr sz="1800" dirty="0">
              <a:solidFill>
                <a:srgbClr val="1155C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Microsoft JhengHei"/>
              <a:buChar char="-"/>
            </a:pPr>
            <a:r>
              <a:rPr lang="zh-TW" sz="1800" dirty="0">
                <a:solidFill>
                  <a:srgbClr val="1155C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[saved_model_file] * 2</a:t>
            </a:r>
            <a:endParaRPr sz="1800" dirty="0">
              <a:solidFill>
                <a:srgbClr val="1155C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Microsoft JhengHei"/>
              <a:buChar char="-"/>
            </a:pPr>
            <a:r>
              <a:rPr lang="zh-TW" sz="1800" dirty="0">
                <a:solidFill>
                  <a:srgbClr val="1155C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report.pdf</a:t>
            </a:r>
            <a:endParaRPr sz="1800" dirty="0">
              <a:solidFill>
                <a:srgbClr val="1155C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Microsoft JhengHei"/>
              <a:buChar char="-"/>
            </a:pPr>
            <a:r>
              <a:rPr lang="zh-TW" sz="1800" dirty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argument.py (optional</a:t>
            </a:r>
            <a:r>
              <a:rPr lang="zh-TW" sz="1800" dirty="0" smtClean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1800" dirty="0">
              <a:solidFill>
                <a:srgbClr val="695D4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Microsoft JhengHei"/>
              <a:buChar char="-"/>
            </a:pPr>
            <a:r>
              <a:rPr lang="zh-TW" sz="1800" dirty="0" smtClean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download.sh (optional)</a:t>
            </a:r>
            <a:endParaRPr sz="1800" dirty="0" smtClean="0">
              <a:solidFill>
                <a:srgbClr val="695D4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Microsoft JhengHei"/>
              <a:buChar char="-"/>
            </a:pPr>
            <a:r>
              <a:rPr lang="zh-TW" sz="1800" dirty="0" smtClean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other files you need</a:t>
            </a:r>
            <a:endParaRPr sz="1800" dirty="0" smtClean="0">
              <a:solidFill>
                <a:srgbClr val="695D4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Microsoft JhengHei"/>
              <a:buChar char="-"/>
            </a:pPr>
            <a:r>
              <a:rPr lang="zh-TW" dirty="0" smtClean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If </a:t>
            </a:r>
            <a:r>
              <a:rPr lang="zh-TW" dirty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your model is too large for github, upload it to a cloud space and write download.sh to download the model</a:t>
            </a:r>
            <a:endParaRPr dirty="0">
              <a:solidFill>
                <a:srgbClr val="695D4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Microsoft JhengHei"/>
              <a:buChar char="-"/>
            </a:pPr>
            <a:r>
              <a:rPr lang="zh-TW" dirty="0">
                <a:solidFill>
                  <a:srgbClr val="695D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 not upload any file named the same with other sample codes</a:t>
            </a:r>
            <a:endParaRPr sz="1800" dirty="0">
              <a:solidFill>
                <a:srgbClr val="695D4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81" name="Google Shape;281;p4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Grading</a:t>
            </a:r>
            <a:endParaRPr/>
          </a:p>
        </p:txBody>
      </p:sp>
      <p:sp>
        <p:nvSpPr>
          <p:cNvPr id="282" name="Google Shape;282;p46"/>
          <p:cNvSpPr txBox="1">
            <a:spLocks noGrp="1"/>
          </p:cNvSpPr>
          <p:nvPr>
            <p:ph type="body" idx="1"/>
          </p:nvPr>
        </p:nvSpPr>
        <p:spPr>
          <a:xfrm>
            <a:off x="311700" y="1363576"/>
            <a:ext cx="8520600" cy="51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>
                <a:solidFill>
                  <a:srgbClr val="695D46"/>
                </a:solidFill>
              </a:rPr>
              <a:t>Please use Python with version &gt;= </a:t>
            </a:r>
            <a:r>
              <a:rPr lang="zh-TW" sz="2000" dirty="0" smtClean="0">
                <a:solidFill>
                  <a:srgbClr val="695D46"/>
                </a:solidFill>
              </a:rPr>
              <a:t>3.</a:t>
            </a:r>
            <a:r>
              <a:rPr lang="en-US" altLang="zh-TW" sz="2000" dirty="0">
                <a:solidFill>
                  <a:srgbClr val="695D46"/>
                </a:solidFill>
              </a:rPr>
              <a:t>5</a:t>
            </a:r>
            <a:endParaRPr sz="2000" dirty="0">
              <a:solidFill>
                <a:srgbClr val="695D46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>
                <a:solidFill>
                  <a:srgbClr val="695D46"/>
                </a:solidFill>
              </a:rPr>
              <a:t>The TAs will execute ‘</a:t>
            </a:r>
            <a:r>
              <a:rPr lang="zh-TW" sz="2000" dirty="0">
                <a:solidFill>
                  <a:srgbClr val="695D46"/>
                </a:solidFill>
                <a:latin typeface="Georgia"/>
                <a:ea typeface="Georgia"/>
                <a:cs typeface="Georgia"/>
                <a:sym typeface="Georgia"/>
              </a:rPr>
              <a:t>python3 test.py --test_pg --test_dqn</a:t>
            </a:r>
            <a:r>
              <a:rPr lang="zh-TW" sz="2000" dirty="0">
                <a:solidFill>
                  <a:srgbClr val="695D46"/>
                </a:solidFill>
              </a:rPr>
              <a:t>’ to run your code on</a:t>
            </a:r>
            <a:r>
              <a:rPr lang="zh-TW" sz="2000" b="1" dirty="0">
                <a:solidFill>
                  <a:srgbClr val="695D46"/>
                </a:solidFill>
              </a:rPr>
              <a:t> </a:t>
            </a:r>
            <a:r>
              <a:rPr lang="zh-TW" sz="2000" b="1" dirty="0">
                <a:solidFill>
                  <a:srgbClr val="FF0000"/>
                </a:solidFill>
              </a:rPr>
              <a:t>ubuntu</a:t>
            </a:r>
            <a:endParaRPr sz="2000" b="1" dirty="0">
              <a:solidFill>
                <a:srgbClr val="FF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-"/>
            </a:pPr>
            <a:r>
              <a:rPr lang="zh-TW" sz="2000" dirty="0">
                <a:solidFill>
                  <a:srgbClr val="695D46"/>
                </a:solidFill>
              </a:rPr>
              <a:t>The execution for both model should be done within 10 minutes respectively, excluding model download</a:t>
            </a:r>
            <a:endParaRPr sz="2000" dirty="0">
              <a:solidFill>
                <a:srgbClr val="695D46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-"/>
            </a:pPr>
            <a:r>
              <a:rPr lang="en-US" altLang="zh-TW" sz="2000" dirty="0" smtClean="0">
                <a:solidFill>
                  <a:srgbClr val="695D46"/>
                </a:solidFill>
              </a:rPr>
              <a:t>Recommended</a:t>
            </a:r>
            <a:r>
              <a:rPr lang="zh-TW" sz="2000" dirty="0" smtClean="0">
                <a:solidFill>
                  <a:srgbClr val="695D46"/>
                </a:solidFill>
              </a:rPr>
              <a:t> packages</a:t>
            </a:r>
            <a:endParaRPr sz="2000" dirty="0">
              <a:solidFill>
                <a:srgbClr val="695D46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-"/>
            </a:pPr>
            <a:r>
              <a:rPr lang="zh-TW" sz="1800" dirty="0" smtClean="0"/>
              <a:t>PyTorch</a:t>
            </a:r>
            <a:endParaRPr sz="1800" dirty="0" smtClean="0">
              <a:solidFill>
                <a:srgbClr val="FF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 smtClean="0"/>
              <a:t>Tensorflow  </a:t>
            </a:r>
            <a:r>
              <a:rPr lang="zh-TW" sz="1800" dirty="0"/>
              <a:t>(CUDA 9.0)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/>
              <a:t>Numpy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/>
              <a:t>Scipy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/>
              <a:t>Pandas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/>
              <a:t>Python Standard </a:t>
            </a:r>
            <a:r>
              <a:rPr lang="zh-TW" sz="1800" dirty="0" smtClean="0"/>
              <a:t>Lib</a:t>
            </a:r>
            <a:endParaRPr lang="en-US" altLang="zh-TW" sz="1800" dirty="0" smtClean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 dirty="0" err="1" smtClean="0"/>
              <a:t>Keras</a:t>
            </a: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Related Materials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88" name="Google Shape;288;p47"/>
          <p:cNvSpPr txBox="1">
            <a:spLocks noGrp="1"/>
          </p:cNvSpPr>
          <p:nvPr>
            <p:ph type="body" idx="1"/>
          </p:nvPr>
        </p:nvSpPr>
        <p:spPr>
          <a:xfrm>
            <a:off x="311700" y="1688425"/>
            <a:ext cx="88323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-"/>
            </a:pPr>
            <a:r>
              <a:rPr lang="zh-TW" sz="2400"/>
              <a:t>Course &amp; Tutorial:</a:t>
            </a:r>
            <a:endParaRPr sz="240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Berkeley Deep Reinforcement Learning, Fall 2017</a:t>
            </a:r>
            <a:endParaRPr sz="1800">
              <a:solidFill>
                <a:srgbClr val="000000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4"/>
              </a:rPr>
              <a:t>David Silver RL course</a:t>
            </a:r>
            <a:endParaRPr sz="1800">
              <a:solidFill>
                <a:srgbClr val="000000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5"/>
              </a:rPr>
              <a:t>Nips 2016 RL tutorial</a:t>
            </a:r>
            <a:endParaRPr sz="1800">
              <a:solidFill>
                <a:srgbClr val="000000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/>
              <a:t>Blog:</a:t>
            </a:r>
            <a:endParaRPr sz="240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6"/>
              </a:rPr>
              <a:t>Andrej Karpathy’s blog</a:t>
            </a:r>
            <a:endParaRPr sz="1800" u="sng">
              <a:solidFill>
                <a:schemeClr val="hlink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7"/>
              </a:rPr>
              <a:t>Arthur Juliani’s Blog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8"/>
              </a:rPr>
              <a:t>Openai</a:t>
            </a:r>
            <a:endParaRPr sz="18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Text Book:</a:t>
            </a:r>
            <a:endParaRPr sz="24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u="sng">
                <a:solidFill>
                  <a:schemeClr val="accent5"/>
                </a:solidFill>
                <a:hlinkClick r:id="rId9"/>
              </a:rPr>
              <a:t>Reinforcement Learning: An Introduction</a:t>
            </a:r>
            <a:endParaRPr sz="1800" u="sng">
              <a:solidFill>
                <a:schemeClr val="accent5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Repo:</a:t>
            </a:r>
            <a:endParaRPr sz="24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10"/>
              </a:rPr>
              <a:t>https://github.com/williamFalcon/DeepRLHacks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954</Words>
  <Application>Microsoft Macintosh PowerPoint</Application>
  <PresentationFormat>On-screen Show (4:3)</PresentationFormat>
  <Paragraphs>188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Georgia</vt:lpstr>
      <vt:lpstr>Libre Baskerville</vt:lpstr>
      <vt:lpstr>Microsoft JhengHei</vt:lpstr>
      <vt:lpstr>Microsoft New Tai Lue</vt:lpstr>
      <vt:lpstr>Noto Symbol</vt:lpstr>
      <vt:lpstr>Open Sans</vt:lpstr>
      <vt:lpstr>PT Sans Narrow</vt:lpstr>
      <vt:lpstr>Source Sans Pro</vt:lpstr>
      <vt:lpstr>Arial</vt:lpstr>
      <vt:lpstr>Simple Light</vt:lpstr>
      <vt:lpstr>Tropic</vt:lpstr>
      <vt:lpstr>MLDS 2018 Fall HW4-1 - Policy Gradient</vt:lpstr>
      <vt:lpstr>Time Schedule</vt:lpstr>
      <vt:lpstr>Outline</vt:lpstr>
      <vt:lpstr>Game Playing</vt:lpstr>
      <vt:lpstr>Environment</vt:lpstr>
      <vt:lpstr>Policy Gradient</vt:lpstr>
      <vt:lpstr>REINFORCE Baseline on Pong</vt:lpstr>
      <vt:lpstr>Improvements to Policy Gradient</vt:lpstr>
      <vt:lpstr>Preprocessing for States</vt:lpstr>
      <vt:lpstr>RGB vs Gray scale</vt:lpstr>
      <vt:lpstr>Residual State</vt:lpstr>
      <vt:lpstr>Reward and Action</vt:lpstr>
      <vt:lpstr>Reward normalization</vt:lpstr>
      <vt:lpstr>Training Plot</vt:lpstr>
      <vt:lpstr>Grading Policy</vt:lpstr>
      <vt:lpstr>Baseline</vt:lpstr>
      <vt:lpstr>Code Format</vt:lpstr>
      <vt:lpstr>Report </vt:lpstr>
      <vt:lpstr>Submission</vt:lpstr>
      <vt:lpstr>Submission</vt:lpstr>
      <vt:lpstr>Grading</vt:lpstr>
      <vt:lpstr>PowerPoint Presentation</vt:lpstr>
    </vt:vector>
  </TitlesOfParts>
  <LinksUpToDate>false</LinksUpToDate>
  <SharedDoc>false</SharedDoc>
  <HyperlinksChanged>false</HyperlinksChanged>
  <AppVersion>15.0023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MLDS 2018 Spring HW4-1 - Policy Gradient</dc:title>
  <cp:lastModifiedBy>Microsoft Office User</cp:lastModifiedBy>
  <cp:revision>13</cp:revision>
  <dcterms:modified xsi:type="dcterms:W3CDTF">2018-12-21T07:01:33Z</dcterms:modified>
</cp:coreProperties>
</file>